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6fd36fd34b44c2" /><Relationship Type="http://schemas.openxmlformats.org/officeDocument/2006/relationships/extended-properties" Target="/docProps/app.xml" Id="R89cff424fef941f6" /><Relationship Type="http://schemas.openxmlformats.org/officeDocument/2006/relationships/officeDocument" Target="/ppt/presentation.xml" Id="Re09d753949f247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f97ca393ce4e35"/>
  </p:sldMasterIdLst>
  <p:notesMasterIdLst>
    <p:notesMasterId xmlns:r="http://schemas.openxmlformats.org/officeDocument/2006/relationships" r:id="Rb49bdfafeb474a95"/>
  </p:notesMasterIdLst>
  <p:sldIdLst>
    <p:sldId xmlns:r="http://schemas.openxmlformats.org/officeDocument/2006/relationships" id="256" r:id="R9fe36be5ceec47fa"/>
    <p:sldId xmlns:r="http://schemas.openxmlformats.org/officeDocument/2006/relationships" id="257" r:id="R1add7d396bf540e1"/>
    <p:sldId xmlns:r="http://schemas.openxmlformats.org/officeDocument/2006/relationships" id="258" r:id="R5cd739f24b334e27"/>
    <p:sldId xmlns:r="http://schemas.openxmlformats.org/officeDocument/2006/relationships" id="259" r:id="R5bf0e8c767054572"/>
    <p:sldId xmlns:r="http://schemas.openxmlformats.org/officeDocument/2006/relationships" id="260" r:id="R6545917d28274f10"/>
    <p:sldId xmlns:r="http://schemas.openxmlformats.org/officeDocument/2006/relationships" id="261" r:id="Rc6a3170b864c45f3"/>
    <p:sldId xmlns:r="http://schemas.openxmlformats.org/officeDocument/2006/relationships" id="262" r:id="R2e71926cf0784d09"/>
    <p:sldId xmlns:r="http://schemas.openxmlformats.org/officeDocument/2006/relationships" id="263" r:id="R56f4050354dc4d65"/>
    <p:sldId xmlns:r="http://schemas.openxmlformats.org/officeDocument/2006/relationships" id="264" r:id="R3ec68f3e73d44d7e"/>
    <p:sldId xmlns:r="http://schemas.openxmlformats.org/officeDocument/2006/relationships" id="265" r:id="Rdf43db71c18048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e4388ddfd94159" /><Relationship Type="http://schemas.openxmlformats.org/officeDocument/2006/relationships/slideMaster" Target="/ppt/slideMasters/slideMaster1.xml" Id="Rabf97ca393ce4e35" /><Relationship Type="http://schemas.openxmlformats.org/officeDocument/2006/relationships/notesMaster" Target="/ppt/notesMasters/notesMaster1.xml" Id="Rb49bdfafeb474a95" /><Relationship Type="http://schemas.openxmlformats.org/officeDocument/2006/relationships/presProps" Target="/ppt/presProps.xml" Id="R16445801c8044c31" /><Relationship Type="http://schemas.openxmlformats.org/officeDocument/2006/relationships/tableStyles" Target="/ppt/tableStyles.xml" Id="Rb272ae7e72f04321" /><Relationship Type="http://schemas.openxmlformats.org/officeDocument/2006/relationships/slide" Target="/ppt/slides/slide1.xml" Id="R9fe36be5ceec47fa" /><Relationship Type="http://schemas.openxmlformats.org/officeDocument/2006/relationships/slide" Target="/ppt/slides/slide2.xml" Id="R1add7d396bf540e1" /><Relationship Type="http://schemas.openxmlformats.org/officeDocument/2006/relationships/slide" Target="/ppt/slides/slide3.xml" Id="R5cd739f24b334e27" /><Relationship Type="http://schemas.openxmlformats.org/officeDocument/2006/relationships/slide" Target="/ppt/slides/slide4.xml" Id="R5bf0e8c767054572" /><Relationship Type="http://schemas.openxmlformats.org/officeDocument/2006/relationships/slide" Target="/ppt/slides/slide5.xml" Id="R6545917d28274f10" /><Relationship Type="http://schemas.openxmlformats.org/officeDocument/2006/relationships/slide" Target="/ppt/slides/slide6.xml" Id="Rc6a3170b864c45f3" /><Relationship Type="http://schemas.openxmlformats.org/officeDocument/2006/relationships/slide" Target="/ppt/slides/slide7.xml" Id="R2e71926cf0784d09" /><Relationship Type="http://schemas.openxmlformats.org/officeDocument/2006/relationships/slide" Target="/ppt/slides/slide8.xml" Id="R56f4050354dc4d65" /><Relationship Type="http://schemas.openxmlformats.org/officeDocument/2006/relationships/slide" Target="/ppt/slides/slide9.xml" Id="R3ec68f3e73d44d7e" /><Relationship Type="http://schemas.openxmlformats.org/officeDocument/2006/relationships/slide" Target="/ppt/slides/slide10.xml" Id="Rdf43db71c18048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d817b966e644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93cfff87fd492b" /><Relationship Type="http://schemas.openxmlformats.org/officeDocument/2006/relationships/notesMaster" Target="/ppt/notesMasters/notesMaster1.xml" Id="Rf05df1de72bb4e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fb0a971d57410b" /><Relationship Type="http://schemas.openxmlformats.org/officeDocument/2006/relationships/notesMaster" Target="/ppt/notesMasters/notesMaster1.xml" Id="Rd49d8ac30ac840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18dbdefe394477" /><Relationship Type="http://schemas.openxmlformats.org/officeDocument/2006/relationships/notesMaster" Target="/ppt/notesMasters/notesMaster1.xml" Id="R644a996e253a45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9b5bc991c34fad" /><Relationship Type="http://schemas.openxmlformats.org/officeDocument/2006/relationships/notesMaster" Target="/ppt/notesMasters/notesMaster1.xml" Id="Ra70b0bff527e49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298110fcdf43bb" /><Relationship Type="http://schemas.openxmlformats.org/officeDocument/2006/relationships/notesMaster" Target="/ppt/notesMasters/notesMaster1.xml" Id="R338e7a38c9d244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d5e19ad5784f10" /><Relationship Type="http://schemas.openxmlformats.org/officeDocument/2006/relationships/notesMaster" Target="/ppt/notesMasters/notesMaster1.xml" Id="Rc0ac9b64e2a742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840dda817d4bc3" /><Relationship Type="http://schemas.openxmlformats.org/officeDocument/2006/relationships/notesMaster" Target="/ppt/notesMasters/notesMaster1.xml" Id="R02cc162322a848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917bacebed4f1b" /><Relationship Type="http://schemas.openxmlformats.org/officeDocument/2006/relationships/notesMaster" Target="/ppt/notesMasters/notesMaster1.xml" Id="R36d34e01e2554c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6a8a687917447a" /><Relationship Type="http://schemas.openxmlformats.org/officeDocument/2006/relationships/notesMaster" Target="/ppt/notesMasters/notesMaster1.xml" Id="Re6bcc32d2d794e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4377ed8e8d433e" /><Relationship Type="http://schemas.openxmlformats.org/officeDocument/2006/relationships/notesMaster" Target="/ppt/notesMasters/notesMaster1.xml" Id="Re92bbd9acf114c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</a:t>
            </a:r>
          </a:p>
          <a:p xmlns:a="http://schemas.openxmlformats.org/drawingml/2006/main">
            <a:r>
              <a:t>- /Users/lipengyuan/PycharmProjects/alpaca-hackathon/docs/assets/stable-income-generator-banner.png</a:t>
            </a:r>
          </a:p>
          <a:p xmlns:a="http://schemas.openxmlformats.org/drawingml/2006/main">
            <a:r>
              <a:t>- https://lipengyuan1994.github.io/alpaca-hackathon/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</a:t>
            </a:r>
          </a:p>
          <a:p xmlns:a="http://schemas.openxmlformats.org/drawingml/2006/main">
            <a:r>
              <a:t>- /Users/lipengyuan/PycharmProjects/alpaca-hackathon/docs/assets/data/v13-5-benchmark.json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/Users/lipengyuan/PycharmProjects/alpaca-hackathon/docs/index.html#strategy</a:t>
            </a:r>
          </a:p>
          <a:p xmlns:a="http://schemas.openxmlformats.org/drawingml/2006/main">
            <a:r>
              <a:t>- /Users/lipengyuan/PycharmProjects/alpaca-hackathon/configs/paper/v13_5_qqq.yaml</a:t>
            </a:r>
          </a:p>
          <a:p xmlns:a="http://schemas.openxmlformats.org/drawingml/2006/main">
            <a:r>
              <a:t>- /Users/lipengyuan/PycharmProjects/alpaca-hackathon/docs/deployment/PAPER_WHEEL_V13_5.md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/Users/lipengyuan/PycharmProjects/alpaca-hackathon/docs/assets/data/v13-5-benchmark.json</a:t>
            </a:r>
          </a:p>
          <a:p xmlns:a="http://schemas.openxmlformats.org/drawingml/2006/main">
            <a:r>
              <a:t>- /Users/lipengyuan/PycharmProjects/alpaca-hackathon/docs/assets/v13-5-performance.svg</a:t>
            </a:r>
          </a:p>
          <a:p xmlns:a="http://schemas.openxmlformats.org/drawingml/2006/main">
            <a:r>
              <a:t>- /Users/lipengyuan/PycharmProjects/alpaca-hackathon/research/candidates/group_a_wheel_v13_package_20260830/run_manifest.json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/Users/lipengyuan/PycharmProjects/alpaca-hackathon/docs/assets/data/v13-5-benchmark.json</a:t>
            </a:r>
          </a:p>
          <a:p xmlns:a="http://schemas.openxmlformats.org/drawingml/2006/main">
            <a:r>
              <a:t>- Artifact hash: sha256:f37bbf10e548500670129193500fe2cc2ece646b9992bf18409dbba5fb49ff9a</a:t>
            </a:r>
          </a:p>
          <a:p xmlns:a="http://schemas.openxmlformats.org/drawingml/2006/main">
            <a:r>
              <a:t>- Bull comparison: conditional compounded return across 428 UPTREND-labeled sessions; V13.5 +43.4262%, QQQ +37.0478%.</a:t>
            </a:r>
          </a:p>
          <a:p xmlns:a="http://schemas.openxmlformats.org/drawingml/2006/main">
            <a:r>
              <a:t>- Bear comparison: four largest observed QQQ peak-to-trough drawdowns above 5% and corresponding V13.5 booked-equity changes.</a:t>
            </a:r>
          </a:p>
          <a:p xmlns:a="http://schemas.openxmlformats.org/drawingml/2006/main">
            <a:r>
              <a:t>- Method caveat: exploratory in-sample proxy; historical option bars are non-executable proxies; booked equity is not continuous mark-to-market; not proof of future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https://lipengyuan1994.github.io/alpaca-hackathon/paper-performance.html</a:t>
            </a:r>
          </a:p>
          <a:p xmlns:a="http://schemas.openxmlformats.org/drawingml/2006/main">
            <a:r>
              <a:t>- https://lipengyuan1994.github.io/alpaca-hackathon/assets/data/live-paper-snapshot.json</a:t>
            </a:r>
          </a:p>
          <a:p xmlns:a="http://schemas.openxmlformats.org/drawingml/2006/main">
            <a:r>
              <a:t>- /Users/lipengyuan/PycharmProjects/alpaca-hackathon/tmp/presentation-stable-income-generator-paper-update/live-paper-snapshot.json (generated_at 2026-09-03T18:11:50.184548Z; artifact_hash sha256:a0ccc3dca7fa08e71a1cd78b8a6c94faea0ce305f5aa31ff20849348b5a1a986)</a:t>
            </a:r>
          </a:p>
          <a:p xmlns:a="http://schemas.openxmlformats.org/drawingml/2006/main">
            <a:r>
              <a:t>- Broker-reported paper snapshot: equity $100,245.53, cumulative P&amp;L +$245.53 (+0.25%), day P&amp;L +$145.80 (+0.15%).</a:t>
            </a:r>
          </a:p>
          <a:p xmlns:a="http://schemas.openxmlformats.org/drawingml/2006/main">
            <a:r>
              <a:t>- 10 recent filled system orders were published; the slide shows the latest five.</a:t>
            </a:r>
          </a:p>
          <a:p xmlns:a="http://schemas.openxmlformats.org/drawingml/2006/main">
            <a:r>
              <a:t>- Paper execution and capital are simulated. Figures on the public dashboard continue to refresh after this slide's frozen capture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/Users/lipengyuan/PycharmProjects/alpaca-hackathon/docs/index.html#intelligence</a:t>
            </a:r>
          </a:p>
          <a:p xmlns:a="http://schemas.openxmlformats.org/drawingml/2006/main">
            <a:r>
              <a:t>- /Users/lipengyuan/PycharmProjects/alpaca-hackathon/docs/architecture/STRATEGY_API.md</a:t>
            </a:r>
          </a:p>
          <a:p xmlns:a="http://schemas.openxmlformats.org/drawingml/2006/main">
            <a:r>
              <a:t>- /Users/lipengyuan/PycharmProjects/alpaca-hackathon/docs/deployment/ECONOMIC_CONTEXT.md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/Users/lipengyuan/PycharmProjects/alpaca-hackathon/docs/architecture/ARCHITECTURE_DESIGN.html</a:t>
            </a:r>
          </a:p>
          <a:p xmlns:a="http://schemas.openxmlformats.org/drawingml/2006/main">
            <a:r>
              <a:t>- /Users/lipengyuan/PycharmProjects/alpaca-hackathon/docs/architecture/SYSTEM_ARCHITECTURE.md</a:t>
            </a:r>
          </a:p>
          <a:p xmlns:a="http://schemas.openxmlformats.org/drawingml/2006/main">
            <a:r>
              <a:t>- /Users/lipengyuan/PycharmProjects/alpaca-hackathon/infra/compose.yaml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https://lipengyuan1994.github.io/alpaca-hackathon/paper-performance.html</a:t>
            </a:r>
          </a:p>
          <a:p xmlns:a="http://schemas.openxmlformats.org/drawingml/2006/main">
            <a:r>
              <a:t>- https://lipengyuan1994.github.io/alpaca-hackathon/</a:t>
            </a:r>
          </a:p>
          <a:p xmlns:a="http://schemas.openxmlformats.org/drawingml/2006/main">
            <a:r>
              <a:t>- https://github.com/lipengyuan1994/alpaca-hackathon</a:t>
            </a:r>
          </a:p>
          <a:p xmlns:a="http://schemas.openxmlformats.org/drawingml/2006/main">
            <a:r>
              <a:t>- /Users/lipengyuan/PycharmProjects/alpaca-hackathon/docs/deployment/judge-reproduce.md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/Users/lipengyuan/PycharmProjects/alpaca-hackathon/docs/index.html</a:t>
            </a:r>
          </a:p>
          <a:p xmlns:a="http://schemas.openxmlformats.org/drawingml/2006/main">
            <a:r>
              <a:t>- /Users/lipengyuan/PycharmProjects/alpaca-hackathon/docs/assets/data/v13-5-benchmark.json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c188ee375248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313498095a4a1b" /><Relationship Type="http://schemas.openxmlformats.org/officeDocument/2006/relationships/slideLayout" Target="/ppt/slideLayouts/slideLayout1.xml" Id="R0a81adba48f146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81adba48f146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78e28e0a04e9f" /><Relationship Type="http://schemas.openxmlformats.org/officeDocument/2006/relationships/image" Target="/ppt/media/image.png" Id="Ra026831552554b36" /><Relationship Type="http://schemas.openxmlformats.org/officeDocument/2006/relationships/notesSlide" Target="/ppt/notesSlides/notesSlide1.xml" Id="R82418391974e44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180b5a73c4479" /><Relationship Type="http://schemas.openxmlformats.org/officeDocument/2006/relationships/notesSlide" Target="/ppt/notesSlides/notesSlide2.xml" Id="R095d12a0ba1f4a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6b011358345aa" /><Relationship Type="http://schemas.openxmlformats.org/officeDocument/2006/relationships/notesSlide" Target="/ppt/notesSlides/notesSlide3.xml" Id="R5b60ec3adb4b4f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f08113d9845b8" /><Relationship Type="http://schemas.openxmlformats.org/officeDocument/2006/relationships/image" Target="/ppt/media/image2.png" Id="R15ff8cfa79014865" /><Relationship Type="http://schemas.openxmlformats.org/officeDocument/2006/relationships/notesSlide" Target="/ppt/notesSlides/notesSlide4.xml" Id="R3416fa20affa4e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46a21f4b3421c" /><Relationship Type="http://schemas.openxmlformats.org/officeDocument/2006/relationships/notesSlide" Target="/ppt/notesSlides/notesSlide5.xml" Id="Ra159caa1840f42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5a2faf4434f48" /><Relationship Type="http://schemas.openxmlformats.org/officeDocument/2006/relationships/notesSlide" Target="/ppt/notesSlides/notesSlide6.xml" Id="R325d3483400945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b5ba1dc774be9" /><Relationship Type="http://schemas.openxmlformats.org/officeDocument/2006/relationships/notesSlide" Target="/ppt/notesSlides/notesSlide7.xml" Id="R7c595e4636e744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7fd5bc0ce40cc" /><Relationship Type="http://schemas.openxmlformats.org/officeDocument/2006/relationships/notesSlide" Target="/ppt/notesSlides/notesSlide8.xml" Id="R6592883af472473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48d0edec94ee8" /><Relationship Type="http://schemas.openxmlformats.org/officeDocument/2006/relationships/hyperlink" Target="https://lipengyuan1994.github.io/alpaca-hackathon/paper-performance.html" TargetMode="External" Id="R70392fcd5fa14cdf" /><Relationship Type="http://schemas.openxmlformats.org/officeDocument/2006/relationships/hyperlink" Target="https://lipengyuan1994.github.io/alpaca-hackathon/paper-performance.html" TargetMode="External" Id="Re45be2e56b564cc9" /><Relationship Type="http://schemas.openxmlformats.org/officeDocument/2006/relationships/notesSlide" Target="/ppt/notesSlides/notesSlide9.xml" Id="R76130f7b3ac64b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831c9ba7e4e0f" /><Relationship Type="http://schemas.openxmlformats.org/officeDocument/2006/relationships/notesSlide" Target="/ppt/notesSlides/notesSlide10.xml" Id="Rc81890b6572f43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6831552554b36"/>
          <a:srcRect xmlns:a="http://schemas.openxmlformats.org/drawingml/2006/main" l="5556" t="0" r="55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ABD99-25C1-403B-981E-BF242858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57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3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F3A94-E526-4D1B-9E0C-BEC048F6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EE7B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CCCCF-371A-4038-AE24-656C40C0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ALPACA HACKATHON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522C2-7F3A-4A1B-BA45-0813EAD5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500" b="0" i="0">
                <a:solidFill>
                  <a:srgbClr val="EDF7F1"/>
                </a:solidFill>
              </a:defRPr>
            </a:pPr>
            <a:r>
              <a:rPr sz="4500" b="0" i="0">
                <a:solidFill>
                  <a:srgbClr val="EDF7F1"/>
                </a:solidFill>
              </a:rPr>
              <a:t>Stable Income</a:t>
            </a:r>
          </a:p>
          <a:p xmlns:a="http://schemas.openxmlformats.org/drawingml/2006/main">
            <a:pPr algn="l">
              <a:buNone/>
              <a:defRPr sz="4500" b="0" i="0">
                <a:solidFill>
                  <a:srgbClr val="EDF7F1"/>
                </a:solidFill>
              </a:defRPr>
            </a:pPr>
            <a:r>
              <a:rPr sz="4500" b="0" i="0">
                <a:solidFill>
                  <a:srgbClr val="EDF7F1"/>
                </a:solidFill>
              </a:rPr>
              <a:t>Generator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B7A4C-97E9-4D63-8859-1C59C115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428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A8F0C6"/>
                </a:solidFill>
              </a:defRPr>
            </a:pPr>
            <a:r>
              <a:rPr sz="1800" b="0" i="0">
                <a:solidFill>
                  <a:srgbClr val="A8F0C6"/>
                </a:solidFill>
              </a:rPr>
              <a:t>Automated options income.</a:t>
            </a:r>
          </a:p>
          <a:p xmlns:a="http://schemas.openxmlformats.org/drawingml/2006/main">
            <a:pPr algn="l">
              <a:buNone/>
              <a:defRPr sz="1800" b="0" i="0">
                <a:solidFill>
                  <a:srgbClr val="A8F0C6"/>
                </a:solidFill>
              </a:defRPr>
            </a:pPr>
            <a:r>
              <a:rPr sz="1800" b="0" i="0">
                <a:solidFill>
                  <a:srgbClr val="A8F0C6"/>
                </a:solidFill>
              </a:rPr>
              <a:t>Deterministic authority. Public proof.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A8A59-0712-42FD-915A-376AA790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A3B8AC"/>
                </a:solidFill>
              </a:defRPr>
            </a:pPr>
            <a:r>
              <a:rPr sz="1200" b="0" i="0">
                <a:solidFill>
                  <a:srgbClr val="A3B8AC"/>
                </a:solidFill>
              </a:rPr>
              <a:t>V13.5 QQQ wheel | Alpaca paper | Containerized</a:t>
            </a:r>
          </a:p>
        </p:txBody>
      </p:sp>
    </p:spTree>
    <p:extLst>
      <p:ext uri="{BB962C8B-B14F-4D97-AF65-F5344CB8AC3E}">
        <p14:creationId xmlns:p14="http://schemas.microsoft.com/office/powerpoint/2010/main" val="313398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77D01283-35CD-4643-ACDD-6870A5A9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THE MANDATE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41C55B-6844-497B-A1F0-CC7FC2A8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Income is a path-quality problem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B7D44D5-1D07-4A03-B34A-4D854122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Maximum upside and dependable income are different objectives.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E8315-1F7A-46E9-9BEE-A1E3C08C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100" b="1" i="0">
                <a:solidFill>
                  <a:srgbClr val="6EE7B7"/>
                </a:solidFill>
              </a:defRPr>
            </a:pPr>
            <a:r>
              <a:rPr sz="5100" b="1" i="0">
                <a:solidFill>
                  <a:srgbClr val="6EE7B7"/>
                </a:solidFill>
              </a:rPr>
              <a:t>STEADY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C27FD-E9F4-4452-9CD7-2C2AD9A7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4429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beats spectacular</a:t>
            </a:r>
          </a:p>
          <a:p xmlns:a="http://schemas.openxmlformats.org/drawingml/2006/main">
            <a:pPr algn="l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when cashflow is the goal.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41614-9690-4164-A47E-A8BAC38B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47875"/>
            <a:ext cx="9525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71818-045D-44DA-9AC7-FE9637D8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31CA7-2DB6-47D2-A2B8-E419FA46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5740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Generate repeatable premium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1C904-D9CD-404A-9B2E-0B03280E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4792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Fully collateralized option expressions.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970B7-A8FF-4734-85A0-DDADD9A3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CA503-3129-498C-82FB-873D580E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Adapt when QQQ trend changes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69425-31AB-4EF8-9ADF-E689773C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One wheel, two deterministic postures.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C987E-5DB9-4350-82F8-6F8B8C25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4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C415B-5196-421F-950F-55F1687F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Prove operation, not intention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BFD11-EC5A-44FA-A9E8-7321D3D0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9582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Broker telemetry, audit records, and replay.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F7A1B-F765-4F94-A422-5A654E6B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1ED12-EC5F-44A0-8CD7-97255229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E74493-EE74-4B40-8694-1DCC94C1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68877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EAF476DF-8A80-4E0D-9FCF-0386A6EF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INSIDE V13.5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81FBB0-4E0A-4741-B638-7B7F419A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One QQQ wheel. Two market postures.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243AB5D-30FE-48D7-A8FE-2CC10F65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The prior close versus its prior 50-session SMA changes strike distance - not discretion.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916A4-B3AF-4C47-BD13-B4ADBC8B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9525" cy="266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68AFA-AB62-49A6-911A-95245DF6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6EE7B7"/>
                </a:solidFill>
              </a:defRPr>
            </a:pPr>
            <a:r>
              <a:rPr sz="1350" b="1" i="0">
                <a:solidFill>
                  <a:srgbClr val="6EE7B7"/>
                </a:solidFill>
              </a:rPr>
              <a:t>UPTREND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9E381-3145-4E83-B9E6-93D759DE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1% OTM 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8C26D7-311A-4724-9C57-34AEE202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718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A8F0C6"/>
                </a:solidFill>
              </a:defRPr>
            </a:pPr>
            <a:r>
              <a:rPr sz="1875" b="1" i="0">
                <a:solidFill>
                  <a:srgbClr val="A8F0C6"/>
                </a:solidFill>
              </a:rPr>
              <a:t>3% OTM covered 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3787F-8045-406F-A5D3-EA527B2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4238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Collect put premium nearer the rising market while preserving more upside room on calls.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F0853-7460-4FAA-A90E-0E994B8F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3C96B"/>
                </a:solidFill>
              </a:defRPr>
            </a:pPr>
            <a:r>
              <a:rPr sz="1350" b="1" i="0">
                <a:solidFill>
                  <a:srgbClr val="F3C96B"/>
                </a:solidFill>
              </a:rPr>
              <a:t>DOWNTREND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980CE-D3C4-4F7D-85BF-559086CA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3% OTM 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D2159-0DA8-4C49-9EB4-633C934F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718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3C96B"/>
                </a:solidFill>
              </a:defRPr>
            </a:pPr>
            <a:r>
              <a:rPr sz="1875" b="1" i="0">
                <a:solidFill>
                  <a:srgbClr val="F3C96B"/>
                </a:solidFill>
              </a:rPr>
              <a:t>1% OTM covered 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DBFC5-218C-42DA-B100-E7DA3459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238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Move puts farther away while bringing calls closer to monetize a cautious regime.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F9C00-DBDD-4552-A9BC-9F5D0F21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FFA38-21D2-4703-B69A-C6C9573B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QQQ 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F8227-7D28-4031-BDA8-D19DB958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7-14 DTE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957FD-0E0C-4207-BAAB-F72BD401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1 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EA0AF-F389-4A7A-8CA2-D37D5734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>
                <a:solidFill>
                  <a:srgbClr val="A8F0C6"/>
                </a:solidFill>
              </a:rPr>
              <a:t>&gt;15% PROFIT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FFFDE-A118-44BB-A994-764B8A35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38162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3C96B"/>
                </a:solidFill>
              </a:defRPr>
            </a:pPr>
            <a:r>
              <a:rPr sz="1275" b="1" i="0">
                <a:solidFill>
                  <a:srgbClr val="F3C96B"/>
                </a:solidFill>
              </a:rPr>
              <a:t>2% DAILY STOP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2CE13D-9AA7-4896-9BE8-34C4AC29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8864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Cash-secured puts and share-covered calls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98768-95FC-41FF-912F-E0F7614F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E487A2-443C-4891-B359-FAC3E1C2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763B1F-B0A9-426D-87C8-9AE1B82D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158371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2DC4B94-EC73-4F23-A1E8-5AA6657B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FROZEN BENCHMARK STUDY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0EAF44-3FB6-4926-830C-5FFF76C7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The backtest favors steadiness over beta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C71AE0D-EC12-4DFB-96E7-30CC1B10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V13.5 gave up upside in exchange for a shallower booked-equity drawdown and stronger downside-adjusted return.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4F090-09DB-41EC-903D-8D3715C9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"/>
            <a:ext cx="376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6EE7B7"/>
                </a:solidFill>
              </a:defRPr>
            </a:pPr>
            <a:r>
              <a:rPr sz="1275" b="1" i="0">
                <a:solidFill>
                  <a:srgbClr val="6EE7B7"/>
                </a:solidFill>
              </a:rPr>
              <a:t>-7.15% MDD  |  2.44 SORTINO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f8cfa79014865"/>
          <a:stretch xmlns:a="http://schemas.openxmlformats.org/drawingml/2006/main"/>
        </p:blipFill>
        <p:spPr>
          <a:xfrm xmlns:a="http://schemas.openxmlformats.org/drawingml/2006/main">
            <a:off x="2124364" y="1714500"/>
            <a:ext cx="7943273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290ED-8C9B-434C-BC78-3A284A3D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626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Exploratory in-sample proxy | 644 sessions | Jan 29, 2024 - Aug 24, 2026 | Not continuous mark-to-market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0B26D-3797-434B-8B34-AD5C6C10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797D5-221B-45D4-9779-44849B8D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709A5-2FAB-465C-AF5B-77533922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68259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2DC4B94-EC73-4F23-A1E8-5AA6657B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BULL + BEAR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0EAF44-3FB6-4926-830C-5FFF76C7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Participation in rallies. Resilience in selloffs.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C71AE0D-EC12-4DFB-96E7-30CC1B10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One deterministic posture switch was tested across rising conditions and the four largest observed QQQ drawdowns.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4F090-09DB-41EC-903D-8D3715C9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"/>
            <a:ext cx="376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75" b="1" i="0">
                <a:solidFill>
                  <a:srgbClr val="6EE7B7"/>
                </a:solidFill>
              </a:defRPr>
            </a:pPr>
            <a:r>
              <a:rPr sz="1275" b="1" i="0">
                <a:solidFill>
                  <a:srgbClr val="6EE7B7"/>
                </a:solidFill>
              </a:rPr>
              <a:t>FULL SAMPLE +30.29%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290ED-8C9B-434C-BC78-3A284A3D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626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Exploratory in-sample booked-equity proxy | Prior-close 50-session SMA regime | Not proof of future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0B26D-3797-434B-8B34-AD5C6C10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797D5-221B-45D4-9779-44849B8D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709A5-2FAB-465C-AF5B-77533922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4E8FE-33EA-467C-8133-BD2FBC60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EE7B7"/>
                </a:solidFill>
              </a:defRPr>
            </a:pPr>
            <a:r>
              <a:rPr sz="1050" b="1">
                <a:solidFill>
                  <a:srgbClr val="6EE7B7"/>
                </a:solidFill>
              </a:rPr>
              <a:t>BULL PARTICIPATION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43216-D59B-4FEB-8FB6-D7C38741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6EE7B7"/>
                </a:solidFill>
              </a:defRPr>
            </a:pPr>
            <a:r>
              <a:rPr sz="2700" b="1">
                <a:solidFill>
                  <a:srgbClr val="6EE7B7"/>
                </a:solidFill>
              </a:rPr>
              <a:t>V13.5 +43.43%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976CC-538D-4BDF-8AE9-8B58B86A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2574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3C96B"/>
                </a:solidFill>
              </a:defRPr>
            </a:pPr>
            <a:r>
              <a:rPr sz="1800" b="1">
                <a:solidFill>
                  <a:srgbClr val="F3C96B"/>
                </a:solidFill>
              </a:rPr>
              <a:t>vs QQQ +37.05%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1725D-29F5-439E-8B2B-59F88B2E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5742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EDF7F1"/>
                </a:solidFill>
              </a:defRPr>
            </a:pPr>
            <a:r>
              <a:rPr sz="1500" b="1">
                <a:solidFill>
                  <a:srgbClr val="EDF7F1"/>
                </a:solidFill>
              </a:rPr>
              <a:t>428 uptrend-labeled sessions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919CB-64D0-481D-84D7-1D15210D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3B8AC"/>
                </a:solidFill>
              </a:defRPr>
            </a:pPr>
            <a:r>
              <a:rPr sz="1200" b="0">
                <a:solidFill>
                  <a:srgbClr val="A3B8AC"/>
                </a:solidFill>
              </a:rPr>
              <a:t>Conditional compounded return across sessions classified using information available before each decision.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35C73-762C-40ED-9697-CB11897C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13A3AE-EB4B-4CCF-A083-BF4E41CA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3C96B"/>
                </a:solidFill>
              </a:defRPr>
            </a:pPr>
            <a:r>
              <a:rPr sz="1050" b="1">
                <a:solidFill>
                  <a:srgbClr val="F3C96B"/>
                </a:solidFill>
              </a:rPr>
              <a:t>QQQ DRAWDOWN EPISODES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7E69F0-F627-4400-9CEF-EDD753ED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194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F8579"/>
                </a:solidFill>
              </a:defRPr>
            </a:pPr>
            <a:r>
              <a:rPr sz="1050" b="0">
                <a:solidFill>
                  <a:srgbClr val="6F8579"/>
                </a:solidFill>
              </a:rPr>
              <a:t>Peak to trough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09D130-15FB-4519-89FC-154CBD01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1619250"/>
          </a:xfrm>
          <a:prstGeom xmlns:a="http://schemas.openxmlformats.org/drawingml/2006/main" prst="roundRect">
            <a:avLst>
              <a:gd name="adj" fmla="val 7059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A1ADE5-B0A6-45CD-935B-8263EF68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24250"/>
            <a:ext cx="9525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56B207-F09A-4897-A5D0-48A60F28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9525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A273CE-5D6F-4708-AF91-2182240B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24250"/>
            <a:ext cx="9525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063F1A-DB92-4DBE-AD8B-8FDBD64B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86175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3B8AC"/>
                </a:solidFill>
              </a:defRPr>
            </a:pPr>
            <a:r>
              <a:rPr sz="1125" b="1">
                <a:solidFill>
                  <a:srgbClr val="A3B8AC"/>
                </a:solidFill>
              </a:rPr>
              <a:t>Feb-Apr 2025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6F6029-D27A-4DFF-9044-812F891B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052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3C96B"/>
                </a:solidFill>
              </a:defRPr>
            </a:pPr>
            <a:r>
              <a:rPr sz="1875" b="1">
                <a:solidFill>
                  <a:srgbClr val="F3C96B"/>
                </a:solidFill>
              </a:rPr>
              <a:t>QQQ -22.84%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C7FB2D-4A28-43C4-ADB1-461172DB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8F0C6"/>
                </a:solidFill>
              </a:defRPr>
            </a:pPr>
            <a:r>
              <a:rPr sz="1350" b="1">
                <a:solidFill>
                  <a:srgbClr val="A8F0C6"/>
                </a:solidFill>
              </a:rPr>
              <a:t>V13.5 -6.97%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C5C9FD-10A9-48C5-9E17-8137814C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86175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3B8AC"/>
                </a:solidFill>
              </a:defRPr>
            </a:pPr>
            <a:r>
              <a:rPr sz="1125" b="1">
                <a:solidFill>
                  <a:srgbClr val="A3B8AC"/>
                </a:solidFill>
              </a:rPr>
              <a:t>Jul-Aug 2024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257C36-996C-448C-880F-A26E6D1B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3C96B"/>
                </a:solidFill>
              </a:defRPr>
            </a:pPr>
            <a:r>
              <a:rPr sz="1875" b="1">
                <a:solidFill>
                  <a:srgbClr val="F3C96B"/>
                </a:solidFill>
              </a:rPr>
              <a:t>QQQ -13.54%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71F342-7C50-4043-B36E-F0F7D279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8152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EE7B7"/>
                </a:solidFill>
              </a:defRPr>
            </a:pPr>
            <a:r>
              <a:rPr sz="1350" b="1">
                <a:solidFill>
                  <a:srgbClr val="6EE7B7"/>
                </a:solidFill>
              </a:rPr>
              <a:t>V13.5 +4.14%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7B7DDF-C0F7-4442-BA27-1E84402A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86175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3B8AC"/>
                </a:solidFill>
              </a:defRPr>
            </a:pPr>
            <a:r>
              <a:rPr sz="1125" b="1">
                <a:solidFill>
                  <a:srgbClr val="A3B8AC"/>
                </a:solidFill>
              </a:rPr>
              <a:t>Oct 2025-Mar 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C03AC6-0937-401A-889D-E7AEBF39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052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3C96B"/>
                </a:solidFill>
              </a:defRPr>
            </a:pPr>
            <a:r>
              <a:rPr sz="1875" b="1">
                <a:solidFill>
                  <a:srgbClr val="F3C96B"/>
                </a:solidFill>
              </a:rPr>
              <a:t>QQQ -12.20%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858C07-2FD6-4F40-9E9E-8742B9FE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8152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EE7B7"/>
                </a:solidFill>
              </a:defRPr>
            </a:pPr>
            <a:r>
              <a:rPr sz="1350" b="1">
                <a:solidFill>
                  <a:srgbClr val="6EE7B7"/>
                </a:solidFill>
              </a:rPr>
              <a:t>V13.5 +0.14%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955472-3A91-4570-9999-4FB426BF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86175"/>
            <a:ext cx="2247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3B8AC"/>
                </a:solidFill>
              </a:defRPr>
            </a:pPr>
            <a:r>
              <a:rPr sz="1125" b="1">
                <a:solidFill>
                  <a:srgbClr val="A3B8AC"/>
                </a:solidFill>
              </a:rPr>
              <a:t>Jun-Jul 2026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2CEDB4-E192-4CA1-AA25-0871BDA9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1052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3C96B"/>
                </a:solidFill>
              </a:defRPr>
            </a:pPr>
            <a:r>
              <a:rPr sz="1875" b="1">
                <a:solidFill>
                  <a:srgbClr val="F3C96B"/>
                </a:solidFill>
              </a:rPr>
              <a:t>QQQ -11.33%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0DD01D-8521-4388-B1F9-E5AFCF5A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81525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8F0C6"/>
                </a:solidFill>
              </a:defRPr>
            </a:pPr>
            <a:r>
              <a:rPr sz="1350" b="1">
                <a:solidFill>
                  <a:srgbClr val="A8F0C6"/>
                </a:solidFill>
              </a:rPr>
              <a:t>V13.5 -1.87%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2E2C31-E8B1-4FB7-908A-ABF9E77E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6EE7B7"/>
                </a:solidFill>
              </a:defRPr>
            </a:pPr>
            <a:r>
              <a:rPr sz="1425" b="1">
                <a:solidFill>
                  <a:srgbClr val="6EE7B7"/>
                </a:solidFill>
              </a:rPr>
              <a:t>+30.29% total return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3D09E9-B3B7-4C79-BCC8-7DA46729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4197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EDF7F1"/>
                </a:solidFill>
              </a:defRPr>
            </a:pPr>
            <a:r>
              <a:rPr sz="1425" b="1">
                <a:solidFill>
                  <a:srgbClr val="EDF7F1"/>
                </a:solidFill>
              </a:rPr>
              <a:t>-7.15% max booked-equity drawdown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D877A2-9955-44F7-A612-1C391657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9725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425" b="1">
                <a:solidFill>
                  <a:srgbClr val="A8F0C6"/>
                </a:solidFill>
              </a:defRPr>
            </a:pPr>
            <a:r>
              <a:rPr sz="1425" b="1">
                <a:solidFill>
                  <a:srgbClr val="A8F0C6"/>
                </a:solidFill>
              </a:rPr>
              <a:t>2.44 Sortino</a:t>
            </a:r>
          </a:p>
        </p:txBody>
      </p:sp>
    </p:spTree>
    <p:extLst>
      <p:ext uri="{BB962C8B-B14F-4D97-AF65-F5344CB8AC3E}">
        <p14:creationId xmlns:p14="http://schemas.microsoft.com/office/powerpoint/2010/main" val="14682591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B491EE1-FC9D-431A-B62C-E9B2FA6C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BROKER-REPORTED PAPER 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AD5352-0F8D-4A15-948A-44D66821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The system is already operating on Alpaca paper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8DA8E81-FA07-4B4D-97E6-783816D7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The new public dashboard exposes a hash-bound snapshot, P&amp;L history, and the ten latest V13.5 system fills.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320CE-EC23-4D47-8756-27C0A697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0" i="0">
                <a:solidFill>
                  <a:srgbClr val="EDF7F1"/>
                </a:solidFill>
              </a:defRPr>
            </a:pPr>
            <a:r>
              <a:rPr sz="4350" b="0" i="0">
                <a:solidFill>
                  <a:srgbClr val="EDF7F1"/>
                </a:solidFill>
              </a:rPr>
              <a:t>$100,245.53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7143B-8D43-4E50-AD53-585716A0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BROKER-REPORTED EQUITY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1C3EC-CA71-490B-BB6E-CB36EC15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6EE7B7"/>
                </a:solidFill>
              </a:defRPr>
            </a:pPr>
            <a:r>
              <a:rPr sz="2850" b="1" i="0">
                <a:solidFill>
                  <a:srgbClr val="6EE7B7"/>
                </a:solidFill>
              </a:rPr>
              <a:t>+$245.53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731BC-D25F-4607-8483-0EE6DC4A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+0.25% since fresh $100K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02DCA-53FC-4454-8D46-93FC7F82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A8F0C6"/>
                </a:solidFill>
              </a:defRPr>
            </a:pPr>
            <a:r>
              <a:rPr sz="1800" b="1" i="0">
                <a:solidFill>
                  <a:srgbClr val="A8F0C6"/>
                </a:solidFill>
              </a:rPr>
              <a:t>+$145.80 today (+0.15%)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0D1C3E-27A7-4BA4-B72F-3BA99FD9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ACTIVE | Account 4c0db2cd-f24c-419f-a9fb-339a24cdef1c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BE19D-220E-474A-BD77-D84B3DF3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9525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E077F-2854-4B48-B42C-B586A43D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3C96B"/>
                </a:solidFill>
              </a:defRPr>
            </a:pPr>
            <a:r>
              <a:rPr sz="1050" b="1" i="0">
                <a:solidFill>
                  <a:srgbClr val="F3C96B"/>
                </a:solidFill>
              </a:rPr>
              <a:t>LATEST 5 OF 10 SYSTEM FILLS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4C597F-C7D8-49F7-BA87-431755F4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241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12:47 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EEADF-BC2A-4A1C-88BF-1D10608E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241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SELL TO OPEN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C71A8-86A0-4328-87B2-D66B1867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241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$695 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487D9E-AC81-4741-B379-01A6B6B4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2412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$0.79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73E6E-22F2-4CF7-B81D-E689B7F3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0512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07131-3881-4C4D-8629-5A79A7F6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146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12:39 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007D1-E4F9-4DD7-BB04-85FB6F76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146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BUY TO CLOSE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362E8D-0D72-40DD-A160-1F13A11C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146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$693 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B0A0D-389E-46D8-BA69-4A069A04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1467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$0.70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C39B4E-D99F-4D75-A227-574B124A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9567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5957F3-7F6E-4531-93CD-4B8CF85B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052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11:04 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3F9B62-2939-4722-AA35-1D63E1DC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052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SELL TO OPEN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7019D4-8F74-463B-8243-64B54567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052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$693 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26F255-AEAE-4EF2-BD88-14B17E29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70522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$0.89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530F0E-9E6F-415E-91E0-F7324492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8622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257DD7-DFDC-4CF2-8E42-30F7DAE0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9577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11:03 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472357-5BE1-430C-8EE0-F7597823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957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BUY TO CLOSE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09F0E1-AF6E-46E1-83A0-6A8AD39D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957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$691 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3AF57E-97E6-4833-9D0E-CDD78016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9577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$0.79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93AD1D-1E62-4186-9AF9-9C1D3412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76775"/>
            <a:ext cx="5095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B6F820-C879-4180-8976-1A6A3865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86325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F8579"/>
                </a:solidFill>
              </a:defRPr>
            </a:pPr>
            <a:r>
              <a:rPr sz="1200" b="0" i="0">
                <a:solidFill>
                  <a:srgbClr val="6F8579"/>
                </a:solidFill>
              </a:rPr>
              <a:t>10:21 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C366C6-ABBE-4031-85DC-2D4F58DD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8632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6EE7B7"/>
                </a:solidFill>
              </a:defRPr>
            </a:pPr>
            <a:r>
              <a:rPr sz="1200" b="1" i="0">
                <a:solidFill>
                  <a:srgbClr val="6EE7B7"/>
                </a:solidFill>
              </a:rPr>
              <a:t>SELL TO OPEN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164BB1-E9C0-405C-86B4-CC419C47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863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EDF7F1"/>
                </a:solidFill>
              </a:defRPr>
            </a:pPr>
            <a:r>
              <a:rPr sz="1200" b="1" i="0">
                <a:solidFill>
                  <a:srgbClr val="EDF7F1"/>
                </a:solidFill>
              </a:rPr>
              <a:t>QQQ $691 PUT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B80182-0ADA-440B-BED4-88922CBC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886325"/>
            <a:ext cx="714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EDF7F1"/>
                </a:solidFill>
              </a:defRPr>
            </a:pPr>
            <a:r>
              <a:rPr sz="1200" b="0" i="0">
                <a:solidFill>
                  <a:srgbClr val="EDF7F1"/>
                </a:solidFill>
              </a:rPr>
              <a:t>$0.96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191710-E192-4AB2-A605-19F6EE2A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76900"/>
            <a:ext cx="509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0" i="0">
                <a:solidFill>
                  <a:srgbClr val="6F8579"/>
                </a:solidFill>
              </a:defRPr>
            </a:pPr>
            <a:r>
              <a:rPr sz="1125" b="0" i="0">
                <a:solidFill>
                  <a:srgbClr val="6F8579"/>
                </a:solidFill>
              </a:rPr>
              <a:t>Captured Sep 3, 2026, 2:11 PM EDT | Paper trading is simulated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01E34B-C043-405F-BE01-161675CC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01D79A-05C2-4932-BB29-BD9B2C31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722A8E-D543-4AAA-8EB0-224A66DB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281692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47E872FB-6F3B-4F53-85B3-9E8DF990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DETERMINISM + INTELLIGENCE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564056-2E15-4336-B50E-F74EC29E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AI can veto. Deterministic controls retain authority.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4F0845A-EF41-4281-B702-CD7BDC31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The model contributes context-sensitive restraint without gaining executable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A0451-1261-4EAD-889E-82868073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067B9-F2DA-4839-BFAC-5A8626E7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BBBF0-2AE8-4E42-AE3A-9E0D8938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6E26E-9382-4E5B-B5FE-876193AC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146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F75C0-C438-49C0-A99F-C2BD7069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A8F0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4753B-243C-41C4-8E47-5FB5AF9F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Market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CEEAE-8D85-465C-8D76-766867CD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A8F0C6"/>
                </a:solidFill>
              </a:defRPr>
            </a:pPr>
            <a:r>
              <a:rPr sz="1125" b="1" i="0">
                <a:solidFill>
                  <a:srgbClr val="A8F0C6"/>
                </a:solidFill>
              </a:rPr>
              <a:t>ECONOMIC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9518D-B7A4-4D0F-92A7-CABC10E0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ECF33-9815-43D6-9527-4E3E4634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V13.5 proposal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CD83A-4D2D-4EDA-8EFE-2E271D49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SEMANTIC 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B15B2-E028-405B-850E-6514EDDB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F3C9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E8AB2-0A98-43E2-822E-90BAAE4B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Gemini 3.6 Flash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B3528-0783-460C-BD7A-135A1B7C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3C96B"/>
                </a:solidFill>
              </a:defRPr>
            </a:pPr>
            <a:r>
              <a:rPr sz="1125" b="1" i="0">
                <a:solidFill>
                  <a:srgbClr val="F3C96B"/>
                </a:solidFill>
              </a:rPr>
              <a:t>ALLOW / VETO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F1861-DB9A-45C2-A15B-9E827405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1C134-C745-4D11-BC7E-5172D606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Risk + preflight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C50E85-8BC8-45A7-B208-8D019C3F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REVALIDATE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65AFE0-C2A1-42D6-8DCE-C8CAAE22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38375"/>
            <a:ext cx="176212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A8F0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C3D555-ED24-42EF-8B4B-8583D5B7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09825"/>
            <a:ext cx="1495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Alpaca paper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0BAB32-E0A5-4481-BC7A-C09E57F4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28925"/>
            <a:ext cx="1533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A8F0C6"/>
                </a:solidFill>
              </a:defRPr>
            </a:pPr>
            <a:r>
              <a:rPr sz="1125" b="1" i="0">
                <a:solidFill>
                  <a:srgbClr val="A8F0C6"/>
                </a:solidFill>
              </a:rPr>
              <a:t>EXECUTION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A42FFB-5F7D-45A8-A23D-2C009224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EDF7F1"/>
                </a:solidFill>
              </a:defRPr>
            </a:pPr>
            <a:r>
              <a:rPr sz="2175" b="1" i="0">
                <a:solidFill>
                  <a:srgbClr val="EDF7F1"/>
                </a:solidFill>
              </a:rPr>
              <a:t>No model-generated contract, size, price, or execution command.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02F533-8AD1-4A96-8569-CFE9F662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57750"/>
            <a:ext cx="923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A1D17"/>
          </a:solidFill>
          <a:ln xmlns:a="http://schemas.openxmlformats.org/drawingml/2006/main" w="9525">
            <a:solidFill>
              <a:srgbClr val="F3C9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3BD12-FE94-4EB6-8DF8-4DB76C5A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006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F3C96B"/>
                </a:solidFill>
              </a:defRPr>
            </a:pPr>
            <a:r>
              <a:rPr sz="975" b="1" i="0">
                <a:solidFill>
                  <a:srgbClr val="F3C96B"/>
                </a:solidFill>
              </a:rPr>
              <a:t>CURRENT LIVE 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325414-DB62-48F9-92FE-8A05A895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720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The V13.5 paper canary is deterministic-only. The hybrid gate is implemented and replay-tested in the broader platform.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1E6219-9472-4985-897F-D2B861BE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B3A2C5-1F62-4A2F-B286-F015E847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802F87-B67B-4B1A-A952-1A60F423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9916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F8A90068-3980-4962-9B1A-8D3287CA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PORTABLE BY CONSTRUCTION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734E3C-3DDA-4D8F-88CE-FFC552A9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Containers move the system without sharing authority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3123CBC-3BBE-45BF-BA2B-7931D26E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Config selects behavior; role boundaries constrain credentials, network access, and broker reach.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58170-2397-4884-ADC3-185735F1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57375"/>
            <a:ext cx="11334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A1D17"/>
          </a:solidFill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3684D-295D-4029-9B95-5977931E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F8579"/>
                </a:solidFill>
              </a:defRPr>
            </a:pPr>
            <a:r>
              <a:rPr sz="975" b="1" i="0">
                <a:solidFill>
                  <a:srgbClr val="6F8579"/>
                </a:solidFill>
              </a:rPr>
              <a:t>LOCAL ARM64  /  CLOUD VM  /  CONTAINER RUNNER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8328B-DCB0-4ADB-A33E-FF53ECA5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95E18-CF91-4B98-92D8-355F7A63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36745-C221-4482-B811-56B8EC27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CAB64-CD63-4D0D-975D-BB4289BE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2762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3676C-29C5-4DD7-BA0D-04AA948B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AFD55-67E7-4763-A248-CE20EE70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997DD6-33C7-4658-A264-40885EC3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A470CA-6B60-43D9-A805-42D2377B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3DB90-2258-49A3-AE46-45303A9E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67125"/>
            <a:ext cx="1714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6EE7B7"/>
          </a:solidFill>
          <a:ln xmlns:a="http://schemas.openxmlformats.org/drawingml/2006/main" w="0">
            <a:solidFill>
              <a:srgbClr val="6EE7B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F13480-66B1-4DAF-8DFE-741BC529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5B91AD-AEDE-4BFB-B919-B260BD6B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510E9-4EA6-4DB4-B705-AF3015FB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MARKET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DC1EE1-960A-4633-91A0-CCBD92A0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8EA1A6-69B2-4495-8C93-F117F7B3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Strategy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6AB307-D126-46FB-8583-CD229429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PURE SIGNAL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7AFD29-D108-46C8-B428-1DCE9CEB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F3C9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12F834-D2E8-4E68-9A5A-DE184302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5EDEFD-2A32-4D07-B7F9-1FC1C999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F3C96B"/>
                </a:solidFill>
              </a:defRPr>
            </a:pPr>
            <a:r>
              <a:rPr sz="1125" b="1" i="0">
                <a:solidFill>
                  <a:srgbClr val="F3C96B"/>
                </a:solidFill>
              </a:rPr>
              <a:t>ALLOW / VETO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657A36-0D87-4CCE-AF2E-FEF68CB8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B9F968-91FA-4710-B6E2-7EF974C7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Risk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536EA0-9A8A-4FF0-8083-3D45C386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HASH-BOUND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79183D-CCB2-40A3-9AAA-87577448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1666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95B178-D11B-4F10-9BEE-92646C0F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47950"/>
            <a:ext cx="1400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EDF7F1"/>
                </a:solidFill>
              </a:defRPr>
            </a:pPr>
            <a:r>
              <a:rPr sz="1500" b="1" i="0">
                <a:solidFill>
                  <a:srgbClr val="EDF7F1"/>
                </a:solidFill>
              </a:rPr>
              <a:t>Execution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CDBBDC-B1ED-42DC-B2AF-E3E1FEDA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67050"/>
            <a:ext cx="1438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6EE7B7"/>
                </a:solidFill>
              </a:defRPr>
            </a:pPr>
            <a:r>
              <a:rPr sz="1125" b="1" i="0">
                <a:solidFill>
                  <a:srgbClr val="6EE7B7"/>
                </a:solidFill>
              </a:rPr>
              <a:t>PAPER KEY ONLY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D42283-8E50-4D61-85D5-DD4B1C6E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00500"/>
            <a:ext cx="70485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A8F0C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FCFDA0-48D0-4D6C-87C9-97F3F222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DF7F1"/>
                </a:solidFill>
              </a:defRPr>
            </a:pPr>
            <a:r>
              <a:rPr sz="1725" b="1" i="0">
                <a:solidFill>
                  <a:srgbClr val="EDF7F1"/>
                </a:solidFill>
              </a:rPr>
              <a:t>PostgreSQL 18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D8056D-E466-4778-A3DA-06DC541A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9575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A8F0C6"/>
                </a:solidFill>
              </a:defRPr>
            </a:pPr>
            <a:r>
              <a:rPr sz="1050" b="1" i="0">
                <a:solidFill>
                  <a:srgbClr val="A8F0C6"/>
                </a:solidFill>
              </a:rPr>
              <a:t>EVENT LEDGER  |  AUDIT  |  OUTBOX / INBOX  |  RECONCILIATION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A14F12-0190-4AEE-BE78-89175C2A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EDF7F1"/>
                </a:solidFill>
              </a:defRPr>
            </a:pPr>
            <a:r>
              <a:rPr sz="2250" b="0" i="0">
                <a:solidFill>
                  <a:srgbClr val="EDF7F1"/>
                </a:solidFill>
              </a:rPr>
              <a:t>Same contracts. Same configuration. New host.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8913F7-B153-41FA-A19B-2559399A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C34D1C-3259-4ABD-B641-3A9FF25C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76BFD6-1D91-43F8-876D-34B10162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7417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4BA14706-683E-468D-A968-69DF4BC6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THE SUBMISSION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419FDC-0A20-4B17-B7C0-809BC41D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A working system, not a concept.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7261C3C-C516-42F6-BB63-33ADBB61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Inspect the evidence, replay the controls, and watch the paper account.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28D0F-C85B-4A9C-8820-FE7FF39E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E975D-B2AE-4731-B4A0-574FDCF0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47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6EE7B7"/>
                </a:solidFill>
              </a:defRPr>
            </a:pPr>
            <a:r>
              <a:rPr sz="2100" b="1" i="0">
                <a:solidFill>
                  <a:srgbClr val="6EE7B7"/>
                </a:solidFill>
              </a:rPr>
              <a:t>BACKTESTED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E7FF9-F2F1-4420-B976-30C2A9E4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9550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EDF7F1"/>
                </a:solidFill>
              </a:defRPr>
            </a:pPr>
            <a:r>
              <a:rPr sz="1425" b="0" i="0">
                <a:solidFill>
                  <a:srgbClr val="EDF7F1"/>
                </a:solidFill>
              </a:rPr>
              <a:t>644 sessions with SPY / QQQ 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4F882-CA17-4D62-AC2F-C5266179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47950"/>
            <a:ext cx="695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4EDE7-F187-4BE7-9D43-5F50DCC4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95878-8F2D-4BF4-AD0E-50632ADE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480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6EE7B7"/>
                </a:solidFill>
              </a:defRPr>
            </a:pPr>
            <a:r>
              <a:rPr sz="2100" b="1" i="0">
                <a:solidFill>
                  <a:srgbClr val="6EE7B7"/>
                </a:solidFill>
              </a:rPr>
              <a:t>OPERATING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938C6A-2D6E-48F8-A5E0-65BE4E0D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95625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EDF7F1"/>
                </a:solidFill>
              </a:defRPr>
            </a:pPr>
            <a:r>
              <a:rPr sz="1425" b="0" i="0">
                <a:solidFill>
                  <a:srgbClr val="EDF7F1"/>
                </a:solidFill>
              </a:rPr>
              <a:t>V13.5 on Alpaca paper with public P&amp;L + fill ledger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44C30-036E-4B15-82BF-0D7F3C91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48075"/>
            <a:ext cx="695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3B8A0-B21D-4B9D-BF0C-E3958503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51F99-8328-4FAE-BF47-FEA47E05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8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6EE7B7"/>
                </a:solidFill>
              </a:defRPr>
            </a:pPr>
            <a:r>
              <a:rPr sz="2100" b="1" i="0">
                <a:solidFill>
                  <a:srgbClr val="6EE7B7"/>
                </a:solidFill>
              </a:rPr>
              <a:t>PORTABLE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5B82E-C180-48F5-8FC4-E0F4B863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9575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 i="0">
                <a:solidFill>
                  <a:srgbClr val="EDF7F1"/>
                </a:solidFill>
              </a:defRPr>
            </a:pPr>
            <a:r>
              <a:rPr sz="1425" b="0" i="0">
                <a:solidFill>
                  <a:srgbClr val="EDF7F1"/>
                </a:solidFill>
              </a:rPr>
              <a:t>Config-driven containers and 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8A301-0C1C-492E-BD05-F048E273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A21"/>
          </a:solidFill>
          <a:ln xmlns:a="http://schemas.openxmlformats.org/drawingml/2006/main" w="19050">
            <a:solidFill>
              <a:srgbClr val="6EE7B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20E0D-28F2-4F4B-8D1B-0A613C55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669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3C96B"/>
                </a:solidFill>
              </a:defRPr>
            </a:pPr>
            <a:r>
              <a:rPr sz="1050" b="1" i="0">
                <a:solidFill>
                  <a:srgbClr val="F3C96B"/>
                </a:solidFill>
              </a:rPr>
              <a:t>INSPECT THE PROOF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2380AE-CC4C-44F9-97C5-385DB1C3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Stable Income</a:t>
            </a:r>
          </a:p>
          <a:p xmlns:a="http://schemas.openxmlformats.org/drawingml/2006/main">
            <a:pPr algn="ctr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Generator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6DE76-3FFE-4A5E-B627-C117D982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814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 u="sng">
                <a:solidFill>
                  <a:srgbClr val="A8F0C6"/>
                </a:solidFill>
                <a:hlinkClick xmlns:r="http://schemas.openxmlformats.org/officeDocument/2006/relationships" r:id="R70392fcd5fa14cdf"/>
              </a:rPr>
              <a:t>alpaca-hackathon/</a:t>
            </a:r>
          </a:p>
          <a:p xmlns:a="http://schemas.openxmlformats.org/drawingml/2006/main">
            <a:pPr algn="ctr">
              <a:buNone/>
              <a:defRPr sz="1275" b="1" i="0">
                <a:solidFill>
                  <a:srgbClr val="A8F0C6"/>
                </a:solidFill>
              </a:defRPr>
            </a:pPr>
            <a:r>
              <a:rPr sz="1275" b="1" i="0" u="sng">
                <a:solidFill>
                  <a:srgbClr val="A8F0C6"/>
                </a:solidFill>
                <a:hlinkClick xmlns:r="http://schemas.openxmlformats.org/officeDocument/2006/relationships" r:id="Re45be2e56b564cc9"/>
              </a:rPr>
              <a:t>paper-performance.html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3CF5C9-2AC6-4185-B4E8-99C83456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F8579"/>
                </a:solidFill>
              </a:defRPr>
            </a:pPr>
            <a:r>
              <a:rPr sz="1050" b="1" i="0">
                <a:solidFill>
                  <a:srgbClr val="6F8579"/>
                </a:solidFill>
              </a:rPr>
              <a:t>Credential-free replay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D3773-0339-4FE2-831E-A651E083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8F0C6"/>
                </a:solidFill>
              </a:defRPr>
            </a:pPr>
            <a:r>
              <a:rPr sz="1275" b="0" i="0">
                <a:solidFill>
                  <a:srgbClr val="A8F0C6"/>
                </a:solidFill>
              </a:rPr>
              <a:t>uv sync --frozen   |   uv run paper-decision-worker   |   uv run pytest -q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20009F-52F7-4C2D-8AEE-FEE4B4EE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3D53D9-D9C7-4B84-9C4D-EC1FC7F7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B9B17C-C62C-41AA-BACD-7A69F655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9993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77D01283-35CD-4643-ACDD-6870A5A9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6EE7B7"/>
                </a:solidFill>
              </a:defRPr>
            </a:pPr>
            <a:r>
              <a:rPr sz="1050" b="1" i="0">
                <a:solidFill>
                  <a:srgbClr val="6EE7B7"/>
                </a:solidFill>
              </a:rPr>
              <a:t>THE MANDATE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41C55B-6844-497B-A1F0-CC7FC2A8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000" b="0" i="0">
                <a:solidFill>
                  <a:srgbClr val="EDF7F1"/>
                </a:solidFill>
              </a:defRPr>
            </a:pPr>
            <a:r>
              <a:rPr sz="3000" b="0" i="0">
                <a:solidFill>
                  <a:srgbClr val="EDF7F1"/>
                </a:solidFill>
              </a:rPr>
              <a:t>Income is a path-quality problem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B7D44D5-1D07-4A03-B34A-4D854122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A3B8AC"/>
                </a:solidFill>
              </a:defRPr>
            </a:pPr>
            <a:r>
              <a:rPr sz="1350" b="0" i="0">
                <a:solidFill>
                  <a:srgbClr val="A3B8AC"/>
                </a:solidFill>
              </a:rPr>
              <a:t>Maximum upside and dependable income are different objectives.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4E8315-1F7A-46E9-9BEE-A1E3C08C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100" b="1" i="0">
                <a:solidFill>
                  <a:srgbClr val="6EE7B7"/>
                </a:solidFill>
              </a:defRPr>
            </a:pPr>
            <a:r>
              <a:rPr sz="5100" b="1" i="0">
                <a:solidFill>
                  <a:srgbClr val="6EE7B7"/>
                </a:solidFill>
              </a:rPr>
              <a:t>STEADY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C27FD-E9F4-4452-9CD7-2C2AD9A7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4429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beats spectacular</a:t>
            </a:r>
          </a:p>
          <a:p xmlns:a="http://schemas.openxmlformats.org/drawingml/2006/main">
            <a:pPr algn="l">
              <a:buNone/>
              <a:defRPr sz="2325" b="0" i="0">
                <a:solidFill>
                  <a:srgbClr val="EDF7F1"/>
                </a:solidFill>
              </a:defRPr>
            </a:pPr>
            <a:r>
              <a:rPr sz="2325" b="0" i="0">
                <a:solidFill>
                  <a:srgbClr val="EDF7F1"/>
                </a:solidFill>
              </a:rPr>
              <a:t>when cashflow is the goal.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41614-9690-4164-A47E-A8BAC38B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47875"/>
            <a:ext cx="9525" cy="304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8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71818-045D-44DA-9AC7-FE9637D8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31CA7-2DB6-47D2-A2B8-E419FA46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5740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Generate repeatable premium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1C904-D9CD-404A-9B2E-0B03280E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4792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Fully collateralized option expressions.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970B7-A8FF-4734-85A0-DDADD9A3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CA503-3129-498C-82FB-873D580E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Adapt when QQQ trend changes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69425-31AB-4EF8-9ADF-E689773C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One wheel, two deterministic postures.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2C987E-5DB9-4350-82F8-6F8B8C25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434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3C96B"/>
                </a:solidFill>
              </a:defRPr>
            </a:pPr>
            <a:r>
              <a:rPr sz="1200" b="1" i="0">
                <a:solidFill>
                  <a:srgbClr val="F3C96B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C415B-5196-421F-950F-55F1687F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0530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EDF7F1"/>
                </a:solidFill>
              </a:defRPr>
            </a:pPr>
            <a:r>
              <a:rPr sz="1800" b="1" i="0">
                <a:solidFill>
                  <a:srgbClr val="EDF7F1"/>
                </a:solidFill>
              </a:rPr>
              <a:t>Prove operation, not intention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BFD11-EC5A-44FA-A9E8-7321D3D0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95825"/>
            <a:ext cx="423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A3B8AC"/>
                </a:solidFill>
              </a:defRPr>
            </a:pPr>
            <a:r>
              <a:rPr sz="1275" b="0" i="0">
                <a:solidFill>
                  <a:srgbClr val="A3B8AC"/>
                </a:solidFill>
              </a:rPr>
              <a:t>Broker telemetry, audit records, and replay.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F7A1B-F765-4F94-A422-5A654E6B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8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1ED12-EC5F-44A0-8CD7-97255229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STABLE INCOME GENERATOR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E74493-EE74-4B40-8694-1DCC94C1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5436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1" i="0">
                <a:solidFill>
                  <a:srgbClr val="6F8579"/>
                </a:solidFill>
              </a:defRPr>
            </a:pPr>
            <a:r>
              <a:rPr sz="825" b="1" i="0">
                <a:solidFill>
                  <a:srgbClr val="6F857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68877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2026-09-03T18:32:22.3020000Z</dcterms:created>
  <dcterms:modified xsi:type="dcterms:W3CDTF">2026-09-03T18:32:22.3020000Z</dcterms:modified>
</coreProperties>
</file>
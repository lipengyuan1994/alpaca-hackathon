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7023663e9b4226" /><Relationship Type="http://schemas.openxmlformats.org/officeDocument/2006/relationships/extended-properties" Target="/docProps/app.xml" Id="R95d0b3e3259e4e33" /><Relationship Type="http://schemas.openxmlformats.org/officeDocument/2006/relationships/officeDocument" Target="/ppt/presentation.xml" Id="R2602f2bc4d0a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ab470842d4a5e"/>
  </p:sldMasterIdLst>
  <p:notesMasterIdLst>
    <p:notesMasterId xmlns:r="http://schemas.openxmlformats.org/officeDocument/2006/relationships" r:id="R754d7e31296d4f7d"/>
  </p:notesMasterIdLst>
  <p:sldIdLst>
    <p:sldId xmlns:r="http://schemas.openxmlformats.org/officeDocument/2006/relationships" id="256" r:id="R6334ef2d52fe4520"/>
    <p:sldId xmlns:r="http://schemas.openxmlformats.org/officeDocument/2006/relationships" id="257" r:id="R83294f25500e4b50"/>
    <p:sldId xmlns:r="http://schemas.openxmlformats.org/officeDocument/2006/relationships" id="258" r:id="Rbd7898db0d4b4b56"/>
    <p:sldId xmlns:r="http://schemas.openxmlformats.org/officeDocument/2006/relationships" id="259" r:id="Rdbac93a813964b1b"/>
    <p:sldId xmlns:r="http://schemas.openxmlformats.org/officeDocument/2006/relationships" id="260" r:id="Red799e84b1094690"/>
    <p:sldId xmlns:r="http://schemas.openxmlformats.org/officeDocument/2006/relationships" id="261" r:id="R5f1214a7c7e4400d"/>
    <p:sldId xmlns:r="http://schemas.openxmlformats.org/officeDocument/2006/relationships" id="262" r:id="R94a7ebdfc68c4d5e"/>
    <p:sldId xmlns:r="http://schemas.openxmlformats.org/officeDocument/2006/relationships" id="263" r:id="Rb0efdf499b6847ae"/>
    <p:sldId xmlns:r="http://schemas.openxmlformats.org/officeDocument/2006/relationships" id="264" r:id="R5397b0f27cd543c3"/>
    <p:sldId xmlns:r="http://schemas.openxmlformats.org/officeDocument/2006/relationships" id="265" r:id="R57bb90bcb61b44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f9ca936be4ca8" /><Relationship Type="http://schemas.openxmlformats.org/officeDocument/2006/relationships/slideMaster" Target="/ppt/slideMasters/slideMaster1.xml" Id="Ra2aab470842d4a5e" /><Relationship Type="http://schemas.openxmlformats.org/officeDocument/2006/relationships/notesMaster" Target="/ppt/notesMasters/notesMaster1.xml" Id="R754d7e31296d4f7d" /><Relationship Type="http://schemas.openxmlformats.org/officeDocument/2006/relationships/presProps" Target="/ppt/presProps.xml" Id="R40a469e72b084396" /><Relationship Type="http://schemas.openxmlformats.org/officeDocument/2006/relationships/tableStyles" Target="/ppt/tableStyles.xml" Id="Re4bb0a54046a4513" /><Relationship Type="http://schemas.openxmlformats.org/officeDocument/2006/relationships/slide" Target="/ppt/slides/slide1.xml" Id="R6334ef2d52fe4520" /><Relationship Type="http://schemas.openxmlformats.org/officeDocument/2006/relationships/slide" Target="/ppt/slides/slide2.xml" Id="R83294f25500e4b50" /><Relationship Type="http://schemas.openxmlformats.org/officeDocument/2006/relationships/slide" Target="/ppt/slides/slide3.xml" Id="Rbd7898db0d4b4b56" /><Relationship Type="http://schemas.openxmlformats.org/officeDocument/2006/relationships/slide" Target="/ppt/slides/slide4.xml" Id="Rdbac93a813964b1b" /><Relationship Type="http://schemas.openxmlformats.org/officeDocument/2006/relationships/slide" Target="/ppt/slides/slide5.xml" Id="Red799e84b1094690" /><Relationship Type="http://schemas.openxmlformats.org/officeDocument/2006/relationships/slide" Target="/ppt/slides/slide6.xml" Id="R5f1214a7c7e4400d" /><Relationship Type="http://schemas.openxmlformats.org/officeDocument/2006/relationships/slide" Target="/ppt/slides/slide7.xml" Id="R94a7ebdfc68c4d5e" /><Relationship Type="http://schemas.openxmlformats.org/officeDocument/2006/relationships/slide" Target="/ppt/slides/slide8.xml" Id="Rb0efdf499b6847ae" /><Relationship Type="http://schemas.openxmlformats.org/officeDocument/2006/relationships/slide" Target="/ppt/slides/slide9.xml" Id="R5397b0f27cd543c3" /><Relationship Type="http://schemas.openxmlformats.org/officeDocument/2006/relationships/slide" Target="/ppt/slides/slide10.xml" Id="R57bb90bcb61b44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3d4d3865e47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f97f0c5c534a67" /><Relationship Type="http://schemas.openxmlformats.org/officeDocument/2006/relationships/notesMaster" Target="/ppt/notesMasters/notesMaster1.xml" Id="Rf4e04fa98742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6a88cd175142e6" /><Relationship Type="http://schemas.openxmlformats.org/officeDocument/2006/relationships/notesMaster" Target="/ppt/notesMasters/notesMaster1.xml" Id="R38867cbdf80c47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d5936b02441ad" /><Relationship Type="http://schemas.openxmlformats.org/officeDocument/2006/relationships/notesMaster" Target="/ppt/notesMasters/notesMaster1.xml" Id="Rf52135cb327d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17f96549d641ea" /><Relationship Type="http://schemas.openxmlformats.org/officeDocument/2006/relationships/notesMaster" Target="/ppt/notesMasters/notesMaster1.xml" Id="R1ffed304a0ec4f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26f5b39818488b" /><Relationship Type="http://schemas.openxmlformats.org/officeDocument/2006/relationships/notesMaster" Target="/ppt/notesMasters/notesMaster1.xml" Id="Rf42ba7a8950943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0e5108e4ba4f24" /><Relationship Type="http://schemas.openxmlformats.org/officeDocument/2006/relationships/notesMaster" Target="/ppt/notesMasters/notesMaster1.xml" Id="R0422d3412dbc4f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b63d9622964a02" /><Relationship Type="http://schemas.openxmlformats.org/officeDocument/2006/relationships/notesMaster" Target="/ppt/notesMasters/notesMaster1.xml" Id="Rf518ead800f341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36d451e8b54acf" /><Relationship Type="http://schemas.openxmlformats.org/officeDocument/2006/relationships/notesMaster" Target="/ppt/notesMasters/notesMaster1.xml" Id="R134ad8689fa346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9af179a23843bb" /><Relationship Type="http://schemas.openxmlformats.org/officeDocument/2006/relationships/notesMaster" Target="/ppt/notesMasters/notesMaster1.xml" Id="R36e2fcbf5d184a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c62cc1f0244015" /><Relationship Type="http://schemas.openxmlformats.org/officeDocument/2006/relationships/notesMaster" Target="/ppt/notesMasters/notesMaster1.xml" Id="R4ef6f55273d340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/Users/lipengyuan/PycharmProjects/alpaca-hackathon/docs/assets/stable-income-generator-banner.png</a:t>
            </a:r>
          </a:p>
          <a:p xmlns:a="http://schemas.openxmlformats.org/drawingml/2006/main">
            <a:r>
              <a:t>- https://lipengyuan1994.github.io/alpaca-hackathon/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/Users/lipengyuan/PycharmProjects/alpaca-hackathon/docs/index.html#strategy</a:t>
            </a:r>
          </a:p>
          <a:p xmlns:a="http://schemas.openxmlformats.org/drawingml/2006/main">
            <a:r>
              <a:t>- /Users/lipengyuan/PycharmProjects/alpaca-hackathon/configs/paper/v13_5_qqq.yaml</a:t>
            </a:r>
          </a:p>
          <a:p xmlns:a="http://schemas.openxmlformats.org/drawingml/2006/main">
            <a:r>
              <a:t>- /Users/lipengyuan/PycharmProjects/alpaca-hackathon/docs/deployment/PAPER_WHEEL_V13_5.md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/Users/lipengyuan/PycharmProjects/alpaca-hackathon/packages/research_data/stable_income_generator_benchmark.py (regime labels at lines 125-140; conditional compounding at lines 143-157)</a:t>
            </a:r>
          </a:p>
          <a:p xmlns:a="http://schemas.openxmlformats.org/drawingml/2006/main">
            <a:r>
              <a:t>- Artifact hash: sha256:f37bbf10e548500670129193500fe2cc2ece646b9992bf18409dbba5fb49ff9a</a:t>
            </a:r>
          </a:p>
          <a:p xmlns:a="http://schemas.openxmlformats.org/drawingml/2006/main">
            <a:r>
              <a:t>- The +43.43% versus +37.05% comparison is restricted to 428 UPTREND-labeled sessions.</a:t>
            </a:r>
          </a:p>
          <a:p xmlns:a="http://schemas.openxmlformats.org/drawingml/2006/main">
            <a:r>
              <a:t>- It is a conditional return attribution, not the complete 644-session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https://lipengyuan1994.github.io/alpaca-hackathon/paper-performance.html</a:t>
            </a:r>
          </a:p>
          <a:p xmlns:a="http://schemas.openxmlformats.org/drawingml/2006/main">
            <a:r>
              <a:t>- https://lipengyuan1994.github.io/alpaca-hackathon/assets/data/live-paper-snapshot.json</a:t>
            </a:r>
          </a:p>
          <a:p xmlns:a="http://schemas.openxmlformats.org/drawingml/2006/main">
            <a:r>
              <a:t>- /Users/lipengyuan/PycharmProjects/alpaca-hackathon/tmp/presentation-stable-income-generator-paper-update/live-paper-snapshot.json (generated_at 2026-09-03T18:11:50.184548Z; artifact_hash sha256:a0ccc3dca7fa08e71a1cd78b8a6c94faea0ce305f5aa31ff20849348b5a1a986)</a:t>
            </a:r>
          </a:p>
          <a:p xmlns:a="http://schemas.openxmlformats.org/drawingml/2006/main">
            <a:r>
              <a:t>- Broker-reported paper snapshot: equity $100,245.53, cumulative P&amp;L +$245.53 (+0.25%), day P&amp;L +$145.80 (+0.15%).</a:t>
            </a:r>
          </a:p>
          <a:p xmlns:a="http://schemas.openxmlformats.org/drawingml/2006/main">
            <a:r>
              <a:t>- 10 recent filled system orders were published; the slide shows the latest five.</a:t>
            </a:r>
          </a:p>
          <a:p xmlns:a="http://schemas.openxmlformats.org/drawingml/2006/main">
            <a:r>
              <a:t>- Paper execution and capital are simulated. Figures on the public dashboard continue to refresh after this slide's frozen capture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/Users/lipengyuan/PycharmProjects/alpaca-hackathon/docs/index.html#intelligence</a:t>
            </a:r>
          </a:p>
          <a:p xmlns:a="http://schemas.openxmlformats.org/drawingml/2006/main">
            <a:r>
              <a:t>- /Users/lipengyuan/PycharmProjects/alpaca-hackathon/docs/architecture/STRATEGY_API.md</a:t>
            </a:r>
          </a:p>
          <a:p xmlns:a="http://schemas.openxmlformats.org/drawingml/2006/main">
            <a:r>
              <a:t>- /Users/lipengyuan/PycharmProjects/alpaca-hackathon/docs/deployment/ECONOMIC_CONTEXT.md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/Users/lipengyuan/PycharmProjects/alpaca-hackathon/docs/architecture/ARCHITECTURE_DESIGN.html</a:t>
            </a:r>
          </a:p>
          <a:p xmlns:a="http://schemas.openxmlformats.org/drawingml/2006/main">
            <a:r>
              <a:t>- /Users/lipengyuan/PycharmProjects/alpaca-hackathon/docs/architecture/SYSTEM_ARCHITECTURE.md</a:t>
            </a:r>
          </a:p>
          <a:p xmlns:a="http://schemas.openxmlformats.org/drawingml/2006/main">
            <a:r>
              <a:t>- /Users/lipengyuan/PycharmProjects/alpaca-hackathon/infra/compose.yaml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https://lipengyuan1994.github.io/alpaca-hackathon/paper-performance.html</a:t>
            </a:r>
          </a:p>
          <a:p xmlns:a="http://schemas.openxmlformats.org/drawingml/2006/main">
            <a:r>
              <a:t>- https://lipengyuan1994.github.io/alpaca-hackathon/</a:t>
            </a:r>
          </a:p>
          <a:p xmlns:a="http://schemas.openxmlformats.org/drawingml/2006/main">
            <a:r>
              <a:t>- https://github.com/lipengyuan1994/alpaca-hackathon</a:t>
            </a:r>
          </a:p>
          <a:p xmlns:a="http://schemas.openxmlformats.org/drawingml/2006/main">
            <a:r>
              <a:t>- /Users/lipengyuan/PycharmProjects/alpaca-hackathon/docs/deployment/judge-reproduce.md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/Users/lipengyuan/PycharmProjects/alpaca-hackathon/packages/research_data/stable_income_generator_benchmark.py (regime labels at lines 125-140; conditional compounding at lines 143-157)</a:t>
            </a:r>
          </a:p>
          <a:p xmlns:a="http://schemas.openxmlformats.org/drawingml/2006/main">
            <a:r>
              <a:t>- Artifact hash: sha256:f37bbf10e548500670129193500fe2cc2ece646b9992bf18409dbba5fb49ff9a</a:t>
            </a:r>
          </a:p>
          <a:p xmlns:a="http://schemas.openxmlformats.org/drawingml/2006/main">
            <a:r>
              <a:t>- Regime rule: UPTREND when the previous QQQ close is above the previous 50-session simple moving average.</a:t>
            </a:r>
          </a:p>
          <a:p xmlns:a="http://schemas.openxmlformats.org/drawingml/2006/main">
            <a:r>
              <a:t>- Conditional return = product over selected sessions of (1 + daily return), minus 1.</a:t>
            </a:r>
          </a:p>
          <a:p xmlns:a="http://schemas.openxmlformats.org/drawingml/2006/main">
            <a:r>
              <a:t>- Conditional result: 428 UPTREND sessions; V13.5 +43.4262%; QQQ +37.0478%.</a:t>
            </a:r>
          </a:p>
          <a:p xmlns:a="http://schemas.openxmlformats.org/drawingml/2006/main">
            <a:r>
              <a:t>- Full result: 644 sessions; V13.5 +30.2858%; QQQ +66.7091%.</a:t>
            </a:r>
          </a:p>
          <a:p xmlns:a="http://schemas.openxmlformats.org/drawingml/2006/main">
            <a:r>
              <a:t>- V13.5 is a frozen booked-equity proxy; open positions are not continuously marked to market.</a:t>
            </a:r>
          </a:p>
          <a:p xmlns:a="http://schemas.openxmlformats.org/drawingml/2006/main">
            <a:r>
              <a:t>- QQQ is split-adjusted Alpaca IEX price-only return and excludes dividends, fees, slippage, and taxes.</a:t>
            </a:r>
          </a:p>
          <a:p xmlns:a="http://schemas.openxmlformats.org/drawingml/2006/main">
            <a:r>
              <a:t>- The comparison is exploratory and in-sample, not proof of future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b94ee8b1b4d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84bce61bc448e0" /><Relationship Type="http://schemas.openxmlformats.org/officeDocument/2006/relationships/slideLayout" Target="/ppt/slideLayouts/slideLayout1.xml" Id="R4befeaa85e274e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feaa85e274e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479b707984469" /><Relationship Type="http://schemas.openxmlformats.org/officeDocument/2006/relationships/image" Target="/ppt/media/image.png" Id="Rd81623aeefc5401c" /><Relationship Type="http://schemas.openxmlformats.org/officeDocument/2006/relationships/notesSlide" Target="/ppt/notesSlides/notesSlide1.xml" Id="R1268e429a40b45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6131f81c04b0c" /><Relationship Type="http://schemas.openxmlformats.org/officeDocument/2006/relationships/notesSlide" Target="/ppt/notesSlides/notesSlide2.xml" Id="Rc491c28758ef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0819d8c294db5" /><Relationship Type="http://schemas.openxmlformats.org/officeDocument/2006/relationships/notesSlide" Target="/ppt/notesSlides/notesSlide3.xml" Id="R3eb02d41e3e1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4bdbd3ee4bb5" /><Relationship Type="http://schemas.openxmlformats.org/officeDocument/2006/relationships/image" Target="/ppt/media/image2.png" Id="Rf2465c7f4c9c4c69" /><Relationship Type="http://schemas.openxmlformats.org/officeDocument/2006/relationships/notesSlide" Target="/ppt/notesSlides/notesSlide4.xml" Id="Rd4b23b3a8fa846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4f252a614881" /><Relationship Type="http://schemas.openxmlformats.org/officeDocument/2006/relationships/notesSlide" Target="/ppt/notesSlides/notesSlide5.xml" Id="R65fff478bf404a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b838b79d445d1" /><Relationship Type="http://schemas.openxmlformats.org/officeDocument/2006/relationships/notesSlide" Target="/ppt/notesSlides/notesSlide6.xml" Id="R048609964f7b4d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471fb74444703" /><Relationship Type="http://schemas.openxmlformats.org/officeDocument/2006/relationships/notesSlide" Target="/ppt/notesSlides/notesSlide7.xml" Id="R3620618a090d47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4751891e2444a" /><Relationship Type="http://schemas.openxmlformats.org/officeDocument/2006/relationships/notesSlide" Target="/ppt/notesSlides/notesSlide8.xml" Id="Rdb8aa0db7a2243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c6a4040c49aa" /><Relationship Type="http://schemas.openxmlformats.org/officeDocument/2006/relationships/hyperlink" Target="https://lipengyuan1994.github.io/alpaca-hackathon/paper-performance.html" TargetMode="External" Id="R128c1d1f0ad644df" /><Relationship Type="http://schemas.openxmlformats.org/officeDocument/2006/relationships/hyperlink" Target="https://lipengyuan1994.github.io/alpaca-hackathon/paper-performance.html" TargetMode="External" Id="R303b6cb093fd4b1e" /><Relationship Type="http://schemas.openxmlformats.org/officeDocument/2006/relationships/notesSlide" Target="/ppt/notesSlides/notesSlide9.xml" Id="R15ae18cdff934c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4585e071e4502" /><Relationship Type="http://schemas.openxmlformats.org/officeDocument/2006/relationships/notesSlide" Target="/ppt/notesSlides/notesSlide10.xml" Id="R2a0d8bee7c264d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623aeefc5401c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BD99-25C1-403B-981E-BF24285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3A94-E526-4D1B-9E0C-BEC048F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E7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CCCF-371A-4038-AE24-656C40C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ALPACA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522C2-7F3A-4A1B-BA45-0813EAD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7A4C-97E9-4D63-8859-1C59C11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Automated options income.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Deterministic authority. Public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8A59-0712-42FD-915A-376AA79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3B8AC"/>
                </a:solidFill>
              </a:defRPr>
            </a:pPr>
            <a:r>
              <a:rPr sz="1200" b="0" i="0">
                <a:solidFill>
                  <a:srgbClr val="A3B8AC"/>
                </a:solidFill>
              </a:rPr>
              <a:t>V13.5 QQQ wheel | Alpaca paper | Containerized</a:t>
            </a:r>
          </a:p>
        </p:txBody>
      </p:sp>
    </p:spTree>
    <p:extLst>
      <p:ext uri="{BB962C8B-B14F-4D97-AF65-F5344CB8AC3E}">
        <p14:creationId xmlns:p14="http://schemas.microsoft.com/office/powerpoint/2010/main" val="31339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AF476DF-8A80-4E0D-9FCF-0386A6E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INSIDE V13.5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1FBB0-4E0A-4741-B638-7B7F419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One QQQ wheel. Two market postures.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3AB5D-30FE-48D7-A8FE-2CC10F6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prior close versus its prior 50-session SMA changes strike distance - not discretion.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916A4-B3AF-4C47-BD13-B4ADBC8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525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FA-AB62-49A6-911A-95245DF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UPTREND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E381-3145-4E83-B9E6-93D759D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1% OTM 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26D7-311A-4724-9C57-34AEE2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A8F0C6"/>
                </a:solidFill>
              </a:defRPr>
            </a:pPr>
            <a:r>
              <a:rPr sz="1875" b="1" i="0">
                <a:solidFill>
                  <a:srgbClr val="A8F0C6"/>
                </a:solidFill>
              </a:rPr>
              <a:t>3% OTM covered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787F-8045-406F-A5D3-EA527B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Collect put premium nearer the rising market while preserving more upside room on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0853-7460-4FAA-A90E-0E994B8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3C96B"/>
                </a:solidFill>
              </a:defRPr>
            </a:pPr>
            <a:r>
              <a:rPr sz="1350" b="1" i="0">
                <a:solidFill>
                  <a:srgbClr val="F3C96B"/>
                </a:solidFill>
              </a:rPr>
              <a:t>DOWNTREND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80CE-D3C4-4F7D-85BF-559086C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3% OTM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2159-0DA8-4C49-9EB4-633C934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3C96B"/>
                </a:solidFill>
              </a:defRPr>
            </a:pPr>
            <a:r>
              <a:rPr sz="1875" b="1" i="0">
                <a:solidFill>
                  <a:srgbClr val="F3C96B"/>
                </a:solidFill>
              </a:rPr>
              <a:t>1% OTM covered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BFC5-218C-42DA-B100-E7DA345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Move puts farther away while bringing calls closer to monetize a cautious 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9C00-DBDD-4552-A9BC-9F5D0F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FA38-21D2-4703-B69A-C6C957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QQQ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8227-7D28-4031-BDA8-D19DB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7-14 DTE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57FD-0E0C-4207-BAAB-F72BD40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1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A0AF-F389-4A7A-8CA2-D37D573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&gt;15%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FFDE-A118-44BB-A994-764B8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3C96B"/>
                </a:solidFill>
              </a:defRPr>
            </a:pPr>
            <a:r>
              <a:rPr sz="1275" b="1" i="0">
                <a:solidFill>
                  <a:srgbClr val="F3C96B"/>
                </a:solidFill>
              </a:rPr>
              <a:t>2% DAILY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E13D-9AA7-4896-9BE8-34C4AC2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Cash-secured puts and share-covered calls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768-95FC-41FF-912F-E0F7614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87A2-443C-4891-B359-FAC3E1C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B1F-B0A9-426D-87C8-9AE1B82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5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65c7f4c9c4c69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BULL + BEAR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Participation in rallies. Resilience in selloffs.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One deterministic posture switch was tested across rising conditions and the four largest observed QQQ drawdowns.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FULL SAMPLE +30.29%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booked-equity proxy | Prior-close 50-session SMA regime | Not proof of future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4E8FE-33EA-467C-8133-BD2FBC6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UPTREND-ONLY RETURN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43216-D59B-4FEB-8FB6-D7C3874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EE7B7"/>
                </a:solidFill>
              </a:defRPr>
            </a:pPr>
            <a:r>
              <a:rPr sz="2700" b="1">
                <a:solidFill>
                  <a:srgbClr val="6EE7B7"/>
                </a:solidFill>
              </a:rPr>
              <a:t>V13.5 +43.43%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76CC-538D-4BDF-8AE9-8B58B86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57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3C96B"/>
                </a:solidFill>
              </a:defRPr>
            </a:pPr>
            <a:r>
              <a:rPr sz="1800" b="1">
                <a:solidFill>
                  <a:srgbClr val="F3C96B"/>
                </a:solidFill>
              </a:rPr>
              <a:t>vs QQQ +37.05%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1725D-29F5-439E-8B2B-59F88B2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EDF7F1"/>
                </a:solidFill>
              </a:defRPr>
            </a:pPr>
            <a:r>
              <a:rPr sz="1500" b="1">
                <a:solidFill>
                  <a:srgbClr val="EDF7F1"/>
                </a:solidFill>
              </a:rPr>
              <a:t>428 uptrend sessions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919CB-64D0-481D-84D7-1D15210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3B8AC"/>
                </a:solidFill>
              </a:defRPr>
            </a:pPr>
            <a:r>
              <a:rPr sz="1200" b="0">
                <a:solidFill>
                  <a:srgbClr val="A3B8AC"/>
                </a:solidFill>
              </a:rPr>
              <a:t>Conditional compounded return on UPTREND-labeled sessions; not the full-period backtest result.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35C73-762C-40ED-9697-CB11897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3A3AE-EB4B-4CCF-A083-BF4E41C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3C96B"/>
                </a:solidFill>
              </a:defRPr>
            </a:pPr>
            <a:r>
              <a:rPr sz="1050" b="1">
                <a:solidFill>
                  <a:srgbClr val="F3C96B"/>
                </a:solidFill>
              </a:rPr>
              <a:t>QQQ DRAWDOWN EPISODES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E69F0-F627-4400-9CEF-EDD753E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19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8579"/>
                </a:solidFill>
              </a:defRPr>
            </a:pPr>
            <a:r>
              <a:rPr sz="1050" b="0">
                <a:solidFill>
                  <a:srgbClr val="6F8579"/>
                </a:solidFill>
              </a:rPr>
              <a:t>Peak to trough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9D130-15FB-4519-89FC-154CBD0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619250"/>
          </a:xfrm>
          <a:prstGeom xmlns:a="http://schemas.openxmlformats.org/drawingml/2006/main" prst="roundRect">
            <a:avLst>
              <a:gd name="adj" fmla="val 705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1ADE5-B0A6-45CD-935B-8263EF6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6B207-F09A-4897-A5D0-48A60F2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273CE-5D6F-4708-AF91-2182240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63F1A-DB92-4DBE-AD8B-8FDBD64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Feb-Apr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F6029-D27A-4DFF-9044-812F891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-22.84%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7FB2D-4A28-43C4-ADB1-461172D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V13.5 -6.97%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5C9FD-10A9-48C5-9E17-8137814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Jul-Aug 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57C36-996C-448C-880F-A26E6D1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-13.54%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1F342-7C50-4043-B36E-F0F7D27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+4.14%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B7DDF-C0F7-4442-BA27-1E84402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Oct 2025-Mar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03AC6-0937-401A-889D-E7AEBF3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-12.20%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58C07-2FD6-4F40-9E9E-8742B9F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+0.14%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55472-3A91-4570-9999-4FB426B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Jun-Jul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CEDB4-E192-4CA1-AA25-0871BDA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-11.33%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DD01D-8521-4388-B1F9-E5AFCF5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V13.5 -1.87%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E2C31-E8B1-4FB7-908A-ABF9E77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E7B7"/>
                </a:solidFill>
              </a:defRPr>
            </a:pPr>
            <a:r>
              <a:rPr sz="1425" b="1">
                <a:solidFill>
                  <a:srgbClr val="6EE7B7"/>
                </a:solidFill>
              </a:rPr>
              <a:t>+30.29% total return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3D09E9-B3B7-4C79-BCC8-7DA4672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197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DF7F1"/>
                </a:solidFill>
              </a:defRPr>
            </a:pPr>
            <a:r>
              <a:rPr sz="1425" b="1">
                <a:solidFill>
                  <a:srgbClr val="EDF7F1"/>
                </a:solidFill>
              </a:rPr>
              <a:t>-7.15% max booked-equity drawdown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D877A2-9955-44F7-A612-1C39165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A8F0C6"/>
                </a:solidFill>
              </a:defRPr>
            </a:pPr>
            <a:r>
              <a:rPr sz="1425" b="1">
                <a:solidFill>
                  <a:srgbClr val="A8F0C6"/>
                </a:solidFill>
              </a:rPr>
              <a:t>2.44 Sortino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B491EE1-FC9D-431A-B62C-E9B2FA6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PAPER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D5352-0F8D-4A15-948A-44D6682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system is already operating on Alpaca paper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A8E81-FA07-4B4D-97E6-783816D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new public dashboard exposes a hash-bound snapshot, P&amp;L history, and the ten latest V13.5 system fills.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20CE-EC23-4D47-8756-27C0A6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EDF7F1"/>
                </a:solidFill>
              </a:defRPr>
            </a:pPr>
            <a:r>
              <a:rPr sz="4350" b="0" i="0">
                <a:solidFill>
                  <a:srgbClr val="EDF7F1"/>
                </a:solidFill>
              </a:rPr>
              <a:t>$100,245.53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143B-8D43-4E50-AD53-585716A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EQUITY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C3EC-CA71-490B-BB6E-CB36EC1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6EE7B7"/>
                </a:solidFill>
              </a:defRPr>
            </a:pPr>
            <a:r>
              <a:rPr sz="2850" b="1" i="0">
                <a:solidFill>
                  <a:srgbClr val="6EE7B7"/>
                </a:solidFill>
              </a:rPr>
              <a:t>+$245.53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31BC-D25F-4607-8483-0EE6D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+0.25% since fresh $100K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2DCA-53FC-4454-8D46-93FC7F8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A8F0C6"/>
                </a:solidFill>
              </a:defRPr>
            </a:pPr>
            <a:r>
              <a:rPr sz="1800" b="1" i="0">
                <a:solidFill>
                  <a:srgbClr val="A8F0C6"/>
                </a:solidFill>
              </a:rPr>
              <a:t>+$145.80 today (+0.15%)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1C3E-27A7-4BA4-B72F-3BA99FD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ACTIVE | Account 4c0db2cd-f24c-419f-a9fb-339a24cdef1c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E19D-220E-474A-BD77-D84B3DF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077F-2854-4B48-B42C-B586A43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LATEST 5 OF 10 SYSTEM FILLS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597F-C7D8-49F7-BA87-431755F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12:47 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EADF-BC2A-4A1C-88BF-1D10608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71A8-86A0-4328-87B2-D66B186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$695 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7D9E-AC81-4741-B379-01A6B6B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3E6E-22F2-4CF7-B81D-E689B7F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7131-3881-4C4D-8629-5A79A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12:39 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07D1-E4F9-4DD7-BB04-85FB6F7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2E8D-0D72-40DD-A160-1F13A1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$693 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0A0D-389E-46D8-BA69-4A069A0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46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9B4E-D99F-4D75-A227-574B124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57F3-7F6E-4531-93CD-4B8CF85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11:04 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9B62-2939-4722-AA35-1D63E1D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19D4-8F74-463B-8243-64B5456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$693 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F255-AEAE-4EF2-BD88-14B17E2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52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$0.89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0F0E-9E6F-415E-91E0-F732449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7DD7-DFDC-4CF2-8E42-30F7DAE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11:03 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2357-5BE1-430C-8EE0-F75978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F0E1-AF6E-46E1-83A0-6A8AD39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$691 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F57E-97E6-4833-9D0E-CDD7801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3AD1D-1E62-4186-9AF9-9C1D34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6F820-C879-4180-8976-1A6A38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10:21 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366C6-ABBE-4031-85DC-2D4F58D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BB1-E9C0-405C-86B4-CC419C4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6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$691 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80182-0ADA-440B-BED4-88922CB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863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$0.96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91710-E192-4AB2-A605-19F6EE2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Captured Sep 3, 2026, 2:11 PM EDT | Paper trading is simulated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E34B-C043-405F-BE01-161675C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1D79A-05C2-4932-BB29-BD9B2C3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22A8E-D543-4AAA-8EB0-224A66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8169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7E872FB-6F3B-4F53-85B3-9E8DF99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DETERMINISM + INTELLIGENCE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64056-2E15-4336-B50E-F74EC29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AI can veto. Deterministic controls retain authority.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F0845A-EF41-4281-B702-CD7BDC3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model contributes context-sensitive restraint without gaining executable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0451-1261-4EAD-889E-828680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067B9-F2DA-4839-BFAC-5A8626E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BF0-2AE8-4E42-AE3A-9E0D89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E26E-9382-4E5B-B5FE-876193A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5C0-C438-49C0-A99F-C2BD706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753B-243C-41C4-8E47-5FB5AF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EEAE-8D85-465C-8D76-766867C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ECONOMIC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518D-B7A4-4D0F-92A7-CABC10E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CF33-9815-43D6-9527-4E3E463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V13.5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D83A-4D2D-4EDA-8EFE-2E271D49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SEMANTIC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15B2-E028-405B-850E-6514ED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E8AB2-0A98-43E2-822E-90BAAE4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Gemini 3.6 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3528-0783-460C-BD7A-135A1B7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1861-DB9A-45C2-A15B-9E8274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C134-C745-4D11-BC7E-5172D6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 +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0E85-8BC8-45A7-B208-8D019C3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5AFE0-C2A1-42D6-8DCE-C8CAAE2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3D555-ED24-42EF-8B4B-8583D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Alpaca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AB32-E0A5-4481-BC7A-C09E57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2FFB-5F7D-45A8-A23D-2C0092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EDF7F1"/>
                </a:solidFill>
              </a:defRPr>
            </a:pPr>
            <a:r>
              <a:rPr sz="2175" b="1" i="0">
                <a:solidFill>
                  <a:srgbClr val="EDF7F1"/>
                </a:solidFill>
              </a:rPr>
              <a:t>No model-generated contract, size, price, or execution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2F533-8AD1-4A96-8569-CFE9F6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923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9525">
            <a:solidFill>
              <a:srgbClr val="F3C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D12-FE94-4EB6-8DF8-4DB76C5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3C96B"/>
                </a:solidFill>
              </a:defRPr>
            </a:pPr>
            <a:r>
              <a:rPr sz="975" b="1" i="0">
                <a:solidFill>
                  <a:srgbClr val="F3C96B"/>
                </a:solidFill>
              </a:rPr>
              <a:t>CURRENT LIVE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5414-DB62-48F9-92FE-8A05A8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The V13.5 paper canary is deterministic-only. The hybrid gate is implemented and replay-tested in the broader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6219-9472-4985-897F-D2B861BE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A2C5-1F62-4A2F-B286-F015E8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02F87-B67B-4B1A-A952-1A60F42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9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A90068-3980-4962-9B1A-8D3287C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PORTABLE BY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4E3C-3DDA-4D8F-88CE-FFC552A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Containers move the system without sharing authority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123CBC-3BBE-45BF-BA2B-7931D26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Config selects behavior; role boundaries constrain credentials, network access, and broker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8170-2397-4884-ADC3-185735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133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684D-295D-4029-9B95-5977931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F8579"/>
                </a:solidFill>
              </a:defRPr>
            </a:pPr>
            <a:r>
              <a:rPr sz="975" b="1" i="0">
                <a:solidFill>
                  <a:srgbClr val="6F8579"/>
                </a:solidFill>
              </a:rPr>
              <a:t>LOCAL ARM64  /  CLOUD VM  /  CONTAINER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328B-DCB0-4ADB-A33E-FF53ECA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5E18-CF91-4B98-92D8-355F7A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6745-C221-4482-B811-56B8EC2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AB64-CD63-4D0D-975D-BB4289B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676C-29C5-4DD7-BA0D-04AA948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FD55-67E7-4763-A248-CE20E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7DD6-33C7-4658-A264-40885EC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70CA-6B60-43D9-A805-42D237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DB90-2258-49A3-AE46-45303A9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13480-66B1-4DAF-8DFE-741BC52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B91AD-AEDE-4BFB-B919-B260BD6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10E9-4EA6-4DB4-B705-AF3015F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EE1-960A-4633-91A0-CCBD92A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A1A6-69B2-4495-8C93-F117F7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B307-D126-46FB-8583-CD22942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PURE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AFD29-D108-46C8-B428-1DCE9CE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F834-D2E8-4E68-9A5A-DE18430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DEFD-2A32-4D07-B7F9-1FC1C9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7A36-0D87-4CCE-AF2E-FEF68CB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F968-91FA-4710-B6E2-7EF974C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36EA0-9A8A-4FF0-8083-3D45C38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HASH-BOUND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183D-CCB2-40A3-9AAA-8757744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5B178-D11B-4F10-9BEE-92646C0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BBDC-B1ED-42DC-B2AF-E3E1FE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PAPER KEY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42283-8E50-4D61-85D5-DD4B1C6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7048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DA0-48D0-4D6C-87C9-97F3F22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DF7F1"/>
                </a:solidFill>
              </a:defRPr>
            </a:pPr>
            <a:r>
              <a:rPr sz="1725" b="1" i="0">
                <a:solidFill>
                  <a:srgbClr val="EDF7F1"/>
                </a:solidFill>
              </a:rPr>
              <a:t>PostgreSQL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056D-E466-4778-A3DA-06DC541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F0C6"/>
                </a:solidFill>
              </a:defRPr>
            </a:pPr>
            <a:r>
              <a:rPr sz="1050" b="1" i="0">
                <a:solidFill>
                  <a:srgbClr val="A8F0C6"/>
                </a:solidFill>
              </a:rPr>
              <a:t>EVENT LEDGER  |  AUDIT  |  OUTBOX / INBOX  | 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14F12-0190-4AEE-BE78-89175C2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EDF7F1"/>
                </a:solidFill>
              </a:defRPr>
            </a:pPr>
            <a:r>
              <a:rPr sz="2250" b="0" i="0">
                <a:solidFill>
                  <a:srgbClr val="EDF7F1"/>
                </a:solidFill>
              </a:rPr>
              <a:t>Same contracts. Same configuration. New host.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913F7-B153-41FA-A19B-2559399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34D1C-3259-4ABD-B641-3A9FF25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6BFD6-1D91-43F8-876D-34B101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41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A14706-683E-468D-A968-69DF4BC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SUBMISSION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19FDC-0A20-4B17-B7C0-809BC4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 working system, not a concept.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61C3C-C516-42F6-BB63-33ADBB6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Inspect the evidence, replay the controls, and watch the paper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8D0F-C85B-4A9C-8820-FE7FF3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975D-B2AE-4731-B4A0-574FDCF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BACKTESTED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7FF9-F2F1-4420-B976-30C2A9E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644 sessions with SPY / QQQ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882-CA17-4D62-AC2F-C526617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EDE7-F187-4BE7-9D43-5F50DCC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5878-8F2D-4BF4-AD0E-50632A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OPERATING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38C6A-2D6E-48F8-A5E0-65BE4E0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V13.5 on Alpaca paper with public P&amp;L + fill 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4C30-036E-4B15-82BF-0D7F3C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3B8A0-B21D-4B9D-BF0C-E395850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1F99-8328-4FAE-BF47-FEA47E0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82E-C180-48F5-8FC4-E0F4B86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Config-driven containers and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8A301-0C1C-492E-BD05-F048E27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0E0D-28F2-4F4B-8D1B-0A613C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INSPECT THE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80AE-CC4C-44F9-97C5-385DB1C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6DE76-3FFE-4A5E-B627-C117D98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 u="sng">
                <a:solidFill>
                  <a:srgbClr val="A8F0C6"/>
                </a:solidFill>
                <a:hlinkClick xmlns:r="http://schemas.openxmlformats.org/officeDocument/2006/relationships" r:id="R128c1d1f0ad644df"/>
              </a:rPr>
              <a:t>alpaca-hackathon/</a:t>
            </a:r>
          </a:p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 u="sng">
                <a:solidFill>
                  <a:srgbClr val="A8F0C6"/>
                </a:solidFill>
                <a:hlinkClick xmlns:r="http://schemas.openxmlformats.org/officeDocument/2006/relationships" r:id="R303b6cb093fd4b1e"/>
              </a:rPr>
              <a:t>paper-performance.html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F5C9-2AC6-4185-B4E8-99C8345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8579"/>
                </a:solidFill>
              </a:defRPr>
            </a:pPr>
            <a:r>
              <a:rPr sz="1050" b="1" i="0">
                <a:solidFill>
                  <a:srgbClr val="6F8579"/>
                </a:solidFill>
              </a:rPr>
              <a:t>Credential-free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773-0339-4FE2-831E-A651E08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8F0C6"/>
                </a:solidFill>
              </a:defRPr>
            </a:pPr>
            <a:r>
              <a:rPr sz="1275" b="0" i="0">
                <a:solidFill>
                  <a:srgbClr val="A8F0C6"/>
                </a:solidFill>
              </a:rPr>
              <a:t>uv sync --frozen   |   uv run paper-decision-worker   |   uv run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009F-52F7-4C2D-8AEE-FEE4B4E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53D9-D9C7-4B84-9C4D-EC1FC7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9B17C-C62C-41AA-BACD-7A69F6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99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APPENDIX · CALCULATION METHOD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How the +43.43% comparison is calculated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A regime-conditioned attribution—not the full-period result; V13.5 uses booked equity.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∏ (1 + rₜ) − 1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over 428 UPTREND sessions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V13.5 +43.43% | QQQ +37.05%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Label each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Prior QQQ close &gt; prior 50-session SMA.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Select and compound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Keep UPTREND dates; multiply (1 + daily return).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Read in full-sample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644 sessions: V13.5 +30.29% | QQQ +66.71%.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2026-09-03T18:33:35.6390000Z</dcterms:created>
  <dcterms:modified xsi:type="dcterms:W3CDTF">2026-09-03T18:33:35.6390000Z</dcterms:modified>
</coreProperties>
</file>
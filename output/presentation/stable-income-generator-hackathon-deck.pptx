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3af39a3bf9546a4" /><Relationship Type="http://schemas.openxmlformats.org/officeDocument/2006/relationships/extended-properties" Target="/docProps/app.xml" Id="R2853843f878c41b8" /><Relationship Type="http://schemas.openxmlformats.org/officeDocument/2006/relationships/officeDocument" Target="/ppt/presentation.xml" Id="R649af158defc400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1a9efae7bf04b8a"/>
  </p:sldMasterIdLst>
  <p:notesMasterIdLst>
    <p:notesMasterId xmlns:r="http://schemas.openxmlformats.org/officeDocument/2006/relationships" r:id="Rb9e87da8f85b400c"/>
  </p:notesMasterIdLst>
  <p:sldIdLst>
    <p:sldId xmlns:r="http://schemas.openxmlformats.org/officeDocument/2006/relationships" id="256" r:id="Rfc0ee858220842cc"/>
    <p:sldId xmlns:r="http://schemas.openxmlformats.org/officeDocument/2006/relationships" id="257" r:id="R79e0bd5c216443e2"/>
    <p:sldId xmlns:r="http://schemas.openxmlformats.org/officeDocument/2006/relationships" id="258" r:id="R25b620a71c584621"/>
    <p:sldId xmlns:r="http://schemas.openxmlformats.org/officeDocument/2006/relationships" id="259" r:id="R024c18e783e74cb2"/>
    <p:sldId xmlns:r="http://schemas.openxmlformats.org/officeDocument/2006/relationships" id="260" r:id="R82ef0c47b7364a6b"/>
    <p:sldId xmlns:r="http://schemas.openxmlformats.org/officeDocument/2006/relationships" id="261" r:id="R5d3177befb374501"/>
    <p:sldId xmlns:r="http://schemas.openxmlformats.org/officeDocument/2006/relationships" id="262" r:id="R7bc3c3afc6d54939"/>
    <p:sldId xmlns:r="http://schemas.openxmlformats.org/officeDocument/2006/relationships" id="263" r:id="R9b211ea47d7449c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0c302c917f04046" /><Relationship Type="http://schemas.openxmlformats.org/officeDocument/2006/relationships/slideMaster" Target="/ppt/slideMasters/slideMaster1.xml" Id="Rb1a9efae7bf04b8a" /><Relationship Type="http://schemas.openxmlformats.org/officeDocument/2006/relationships/notesMaster" Target="/ppt/notesMasters/notesMaster1.xml" Id="Rb9e87da8f85b400c" /><Relationship Type="http://schemas.openxmlformats.org/officeDocument/2006/relationships/presProps" Target="/ppt/presProps.xml" Id="R84f1715d671a48fb" /><Relationship Type="http://schemas.openxmlformats.org/officeDocument/2006/relationships/tableStyles" Target="/ppt/tableStyles.xml" Id="R1113cbcecc524c94" /><Relationship Type="http://schemas.openxmlformats.org/officeDocument/2006/relationships/slide" Target="/ppt/slides/slide1.xml" Id="Rfc0ee858220842cc" /><Relationship Type="http://schemas.openxmlformats.org/officeDocument/2006/relationships/slide" Target="/ppt/slides/slide2.xml" Id="R79e0bd5c216443e2" /><Relationship Type="http://schemas.openxmlformats.org/officeDocument/2006/relationships/slide" Target="/ppt/slides/slide3.xml" Id="R25b620a71c584621" /><Relationship Type="http://schemas.openxmlformats.org/officeDocument/2006/relationships/slide" Target="/ppt/slides/slide4.xml" Id="R024c18e783e74cb2" /><Relationship Type="http://schemas.openxmlformats.org/officeDocument/2006/relationships/slide" Target="/ppt/slides/slide5.xml" Id="R82ef0c47b7364a6b" /><Relationship Type="http://schemas.openxmlformats.org/officeDocument/2006/relationships/slide" Target="/ppt/slides/slide6.xml" Id="R5d3177befb374501" /><Relationship Type="http://schemas.openxmlformats.org/officeDocument/2006/relationships/slide" Target="/ppt/slides/slide7.xml" Id="R7bc3c3afc6d54939" /><Relationship Type="http://schemas.openxmlformats.org/officeDocument/2006/relationships/slide" Target="/ppt/slides/slide8.xml" Id="R9b211ea47d7449c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4cf5a50e976459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e271c0da61141d1" /><Relationship Type="http://schemas.openxmlformats.org/officeDocument/2006/relationships/notesMaster" Target="/ppt/notesMasters/notesMaster1.xml" Id="R96b1a92ee06b42b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cef0a3eb53249a1" /><Relationship Type="http://schemas.openxmlformats.org/officeDocument/2006/relationships/notesMaster" Target="/ppt/notesMasters/notesMaster1.xml" Id="Raeef3bcd21594df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ae28781b36d4324" /><Relationship Type="http://schemas.openxmlformats.org/officeDocument/2006/relationships/notesMaster" Target="/ppt/notesMasters/notesMaster1.xml" Id="R258e938bc27a4c9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93e8eb23f254d22" /><Relationship Type="http://schemas.openxmlformats.org/officeDocument/2006/relationships/notesMaster" Target="/ppt/notesMasters/notesMaster1.xml" Id="R3640b08da2414a4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0c4d34caa5c4b08" /><Relationship Type="http://schemas.openxmlformats.org/officeDocument/2006/relationships/notesMaster" Target="/ppt/notesMasters/notesMaster1.xml" Id="R1d9603130c55430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54b150bfeb84bd5" /><Relationship Type="http://schemas.openxmlformats.org/officeDocument/2006/relationships/notesMaster" Target="/ppt/notesMasters/notesMaster1.xml" Id="R0afe7eae87a94c6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bc3c85f0201457e" /><Relationship Type="http://schemas.openxmlformats.org/officeDocument/2006/relationships/notesMaster" Target="/ppt/notesMasters/notesMaster1.xml" Id="R4f51d4cd64ff46e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3365d268f6243b3" /><Relationship Type="http://schemas.openxmlformats.org/officeDocument/2006/relationships/notesMaster" Target="/ppt/notesMasters/notesMaster1.xml" Id="Rcddcac6e0a2244a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/Users/lipengyuan/PycharmProjects/alpaca-hackathon/docs/index.html</a:t>
            </a:r>
          </a:p>
          <a:p xmlns:a="http://schemas.openxmlformats.org/drawingml/2006/main">
            <a:r>
              <a:t>- /Users/lipengyuan/PycharmProjects/alpaca-hackathon/docs/assets/stable-income-generator-banner.png</a:t>
            </a:r>
          </a:p>
          <a:p xmlns:a="http://schemas.openxmlformats.org/drawingml/2006/main">
            <a:r>
              <a:t>- https://lipengyuan1994.github.io/alpaca-hackathon/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/Users/lipengyuan/PycharmProjects/alpaca-hackathon/docs/index.html</a:t>
            </a:r>
          </a:p>
          <a:p xmlns:a="http://schemas.openxmlformats.org/drawingml/2006/main">
            <a:r>
              <a:t>- /Users/lipengyuan/PycharmProjects/alpaca-hackathon/docs/assets/data/v13-5-benchmark.json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/Users/lipengyuan/PycharmProjects/alpaca-hackathon/docs/index.html#strategy</a:t>
            </a:r>
          </a:p>
          <a:p xmlns:a="http://schemas.openxmlformats.org/drawingml/2006/main">
            <a:r>
              <a:t>- /Users/lipengyuan/PycharmProjects/alpaca-hackathon/configs/paper/v13_5_qqq.yaml</a:t>
            </a:r>
          </a:p>
          <a:p xmlns:a="http://schemas.openxmlformats.org/drawingml/2006/main">
            <a:r>
              <a:t>- /Users/lipengyuan/PycharmProjects/alpaca-hackathon/docs/deployment/PAPER_WHEEL_V13_5.md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/Users/lipengyuan/PycharmProjects/alpaca-hackathon/docs/assets/data/v13-5-benchmark.json</a:t>
            </a:r>
          </a:p>
          <a:p xmlns:a="http://schemas.openxmlformats.org/drawingml/2006/main">
            <a:r>
              <a:t>- /Users/lipengyuan/PycharmProjects/alpaca-hackathon/docs/assets/v13-5-performance.svg</a:t>
            </a:r>
          </a:p>
          <a:p xmlns:a="http://schemas.openxmlformats.org/drawingml/2006/main">
            <a:r>
              <a:t>- /Users/lipengyuan/PycharmProjects/alpaca-hackathon/research/candidates/group_a_wheel_v13_package_20260830/run_manifest.json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https://lipengyuan1994.github.io/alpaca-hackathon/assets/data/live-paper-snapshot.json</a:t>
            </a:r>
          </a:p>
          <a:p xmlns:a="http://schemas.openxmlformats.org/drawingml/2006/main">
            <a:r>
              <a:t>- /Users/lipengyuan/PycharmProjects/alpaca-hackathon/tmp/presentation-stable-income-generator/live-paper-snapshot.json (generated_at 2026-09-02T23:13:19.732773Z)</a:t>
            </a:r>
          </a:p>
          <a:p xmlns:a="http://schemas.openxmlformats.org/drawingml/2006/main">
            <a:r>
              <a:t>- /Users/lipengyuan/PycharmProjects/alpaca-hackathon/packages/paper_wheel/public_snapshot.py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/Users/lipengyuan/PycharmProjects/alpaca-hackathon/docs/index.html#intelligence</a:t>
            </a:r>
          </a:p>
          <a:p xmlns:a="http://schemas.openxmlformats.org/drawingml/2006/main">
            <a:r>
              <a:t>- /Users/lipengyuan/PycharmProjects/alpaca-hackathon/docs/architecture/STRATEGY_API.md</a:t>
            </a:r>
          </a:p>
          <a:p xmlns:a="http://schemas.openxmlformats.org/drawingml/2006/main">
            <a:r>
              <a:t>- /Users/lipengyuan/PycharmProjects/alpaca-hackathon/docs/deployment/ECONOMIC_CONTEXT.md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/Users/lipengyuan/PycharmProjects/alpaca-hackathon/docs/architecture/ARCHITECTURE_DESIGN.html</a:t>
            </a:r>
          </a:p>
          <a:p xmlns:a="http://schemas.openxmlformats.org/drawingml/2006/main">
            <a:r>
              <a:t>- /Users/lipengyuan/PycharmProjects/alpaca-hackathon/docs/architecture/SYSTEM_ARCHITECTURE.md</a:t>
            </a:r>
          </a:p>
          <a:p xmlns:a="http://schemas.openxmlformats.org/drawingml/2006/main">
            <a:r>
              <a:t>- /Users/lipengyuan/PycharmProjects/alpaca-hackathon/infra/compose.yaml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https://lipengyuan1994.github.io/alpaca-hackathon/</a:t>
            </a:r>
          </a:p>
          <a:p xmlns:a="http://schemas.openxmlformats.org/drawingml/2006/main">
            <a:r>
              <a:t>- https://github.com/lipengyuan1994/alpaca-hackathon</a:t>
            </a:r>
          </a:p>
          <a:p xmlns:a="http://schemas.openxmlformats.org/drawingml/2006/main">
            <a:r>
              <a:t>- /Users/lipengyuan/PycharmProjects/alpaca-hackathon/docs/deployment/judge-reproduce.md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e74df750fe442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033de6fb99241e4" /><Relationship Type="http://schemas.openxmlformats.org/officeDocument/2006/relationships/slideLayout" Target="/ppt/slideLayouts/slideLayout1.xml" Id="R8ba10ead5e5149b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ba10ead5e5149b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4f289391554df3" /><Relationship Type="http://schemas.openxmlformats.org/officeDocument/2006/relationships/image" Target="/ppt/media/image.png" Id="Rb16fe3f5daec456e" /><Relationship Type="http://schemas.openxmlformats.org/officeDocument/2006/relationships/notesSlide" Target="/ppt/notesSlides/notesSlide1.xml" Id="R2484a9162323491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2256911faf4683" /><Relationship Type="http://schemas.openxmlformats.org/officeDocument/2006/relationships/notesSlide" Target="/ppt/notesSlides/notesSlide2.xml" Id="R970f1c289daa4f5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d3e49319784b37" /><Relationship Type="http://schemas.openxmlformats.org/officeDocument/2006/relationships/notesSlide" Target="/ppt/notesSlides/notesSlide3.xml" Id="Rca6f325fa86e4be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bda1abeac0475c" /><Relationship Type="http://schemas.openxmlformats.org/officeDocument/2006/relationships/image" Target="/ppt/media/image2.png" Id="Rad30686017dc48e0" /><Relationship Type="http://schemas.openxmlformats.org/officeDocument/2006/relationships/notesSlide" Target="/ppt/notesSlides/notesSlide4.xml" Id="R2c5e7e64f644483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c3d09d9c5340b2" /><Relationship Type="http://schemas.openxmlformats.org/officeDocument/2006/relationships/notesSlide" Target="/ppt/notesSlides/notesSlide5.xml" Id="Rcfc181101c6748d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7434733a674009" /><Relationship Type="http://schemas.openxmlformats.org/officeDocument/2006/relationships/notesSlide" Target="/ppt/notesSlides/notesSlide6.xml" Id="R5fc9ee6c67de4b3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54eb29a8814468" /><Relationship Type="http://schemas.openxmlformats.org/officeDocument/2006/relationships/notesSlide" Target="/ppt/notesSlides/notesSlide7.xml" Id="R9a93a4491f46417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1d1a18837b4058" /><Relationship Type="http://schemas.openxmlformats.org/officeDocument/2006/relationships/notesSlide" Target="/ppt/notesSlides/notesSlide8.xml" Id="R2a554d7700d7482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6fe3f5daec456e"/>
          <a:srcRect xmlns:a="http://schemas.openxmlformats.org/drawingml/2006/main" l="5556" t="0" r="555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FABD99-25C1-403B-981E-BF2428580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857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3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1F3A94-E526-4D1B-9E0C-BEC048F63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7810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6EE7B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7CCCCF-371A-4038-AE24-656C40C00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EE7B7"/>
                </a:solidFill>
              </a:defRPr>
            </a:pPr>
            <a:r>
              <a:rPr sz="1050" b="1" i="0">
                <a:solidFill>
                  <a:srgbClr val="6EE7B7"/>
                </a:solidFill>
              </a:rPr>
              <a:t>ALPACA HACKATHON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6522C2-7F3A-4A1B-BA45-0813EAD54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4762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500" b="0" i="0">
                <a:solidFill>
                  <a:srgbClr val="EDF7F1"/>
                </a:solidFill>
              </a:defRPr>
            </a:pPr>
            <a:r>
              <a:rPr sz="4500" b="0" i="0">
                <a:solidFill>
                  <a:srgbClr val="EDF7F1"/>
                </a:solidFill>
              </a:rPr>
              <a:t>Stable Income</a:t>
            </a:r>
          </a:p>
          <a:p xmlns:a="http://schemas.openxmlformats.org/drawingml/2006/main">
            <a:pPr algn="l">
              <a:defRPr sz="4500" b="0" i="0">
                <a:solidFill>
                  <a:srgbClr val="EDF7F1"/>
                </a:solidFill>
              </a:defRPr>
            </a:pPr>
            <a:r>
              <a:rPr sz="4500" b="0" i="0">
                <a:solidFill>
                  <a:srgbClr val="EDF7F1"/>
                </a:solidFill>
              </a:rPr>
              <a:t>Generator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2B7A4C-97E9-4D63-8859-1C59C115C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428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A8F0C6"/>
                </a:solidFill>
              </a:defRPr>
            </a:pPr>
            <a:r>
              <a:rPr sz="1800" b="0" i="0">
                <a:solidFill>
                  <a:srgbClr val="A8F0C6"/>
                </a:solidFill>
              </a:rPr>
              <a:t>Automated options income.</a:t>
            </a:r>
          </a:p>
          <a:p xmlns:a="http://schemas.openxmlformats.org/drawingml/2006/main">
            <a:pPr algn="l">
              <a:defRPr sz="1800" b="0" i="0">
                <a:solidFill>
                  <a:srgbClr val="A8F0C6"/>
                </a:solidFill>
              </a:defRPr>
            </a:pPr>
            <a:r>
              <a:rPr sz="1800" b="0" i="0">
                <a:solidFill>
                  <a:srgbClr val="A8F0C6"/>
                </a:solidFill>
              </a:rPr>
              <a:t>Deterministic authority. Public proof.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7A8A59-0712-42FD-915A-376AA790E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3B8AC"/>
                </a:solidFill>
              </a:defRPr>
            </a:pPr>
            <a:r>
              <a:rPr sz="1200" b="0" i="0">
                <a:solidFill>
                  <a:srgbClr val="A3B8AC"/>
                </a:solidFill>
              </a:rPr>
              <a:t>V13.5 QQQ wheel | Alpaca paper | Containerized</a:t>
            </a:r>
          </a:p>
        </p:txBody>
      </p:sp>
    </p:spTree>
    <p:extLst>
      <p:ext uri="{BB962C8B-B14F-4D97-AF65-F5344CB8AC3E}">
        <p14:creationId xmlns:p14="http://schemas.microsoft.com/office/powerpoint/2010/main" val="3133981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6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77D01283-35CD-4643-ACDD-6870A5A97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EE7B7"/>
                </a:solidFill>
              </a:defRPr>
            </a:pPr>
            <a:r>
              <a:rPr sz="1050" b="1" i="0">
                <a:solidFill>
                  <a:srgbClr val="6EE7B7"/>
                </a:solidFill>
              </a:rPr>
              <a:t>THE MANDATE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941C55B-6844-497B-A1F0-CC7FC2A8D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0" i="0">
                <a:solidFill>
                  <a:srgbClr val="EDF7F1"/>
                </a:solidFill>
              </a:defRPr>
            </a:pPr>
            <a:r>
              <a:rPr sz="3000" b="0" i="0">
                <a:solidFill>
                  <a:srgbClr val="EDF7F1"/>
                </a:solidFill>
              </a:rPr>
              <a:t>Income is a path-quality problem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B7D44D5-1D07-4A03-B34A-4D854122D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3B8AC"/>
                </a:solidFill>
              </a:defRPr>
            </a:pPr>
            <a:r>
              <a:rPr sz="1350" b="0" i="0">
                <a:solidFill>
                  <a:srgbClr val="A3B8AC"/>
                </a:solidFill>
              </a:rPr>
              <a:t>Maximum upside and dependable income are different objectives.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4E8315-1F7A-46E9-9BEE-A1E3C08C8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100" b="1" i="0">
                <a:solidFill>
                  <a:srgbClr val="6EE7B7"/>
                </a:solidFill>
              </a:defRPr>
            </a:pPr>
            <a:r>
              <a:rPr sz="5100" b="1" i="0">
                <a:solidFill>
                  <a:srgbClr val="6EE7B7"/>
                </a:solidFill>
              </a:rPr>
              <a:t>STEADY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BC27FD-E9F4-4452-9CD7-2C2AD9A79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28950"/>
            <a:ext cx="4429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0" i="0">
                <a:solidFill>
                  <a:srgbClr val="EDF7F1"/>
                </a:solidFill>
              </a:defRPr>
            </a:pPr>
            <a:r>
              <a:rPr sz="2325" b="0" i="0">
                <a:solidFill>
                  <a:srgbClr val="EDF7F1"/>
                </a:solidFill>
              </a:rPr>
              <a:t>beats spectacular</a:t>
            </a:r>
          </a:p>
          <a:p xmlns:a="http://schemas.openxmlformats.org/drawingml/2006/main">
            <a:pPr algn="l">
              <a:defRPr sz="2325" b="0" i="0">
                <a:solidFill>
                  <a:srgbClr val="EDF7F1"/>
                </a:solidFill>
              </a:defRPr>
            </a:pPr>
            <a:r>
              <a:rPr sz="2325" b="0" i="0">
                <a:solidFill>
                  <a:srgbClr val="EDF7F1"/>
                </a:solidFill>
              </a:rPr>
              <a:t>when cashflow is the goal.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A41614-9690-4164-A47E-A8BAC38B3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47875"/>
            <a:ext cx="9525" cy="304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48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271818-045D-44DA-9AC7-FE9637D8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955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3C96B"/>
                </a:solidFill>
              </a:defRPr>
            </a:pPr>
            <a:r>
              <a:rPr sz="1200" b="1" i="0">
                <a:solidFill>
                  <a:srgbClr val="F3C96B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A31CA7-2DB6-47D2-A2B8-E419FA469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57400"/>
            <a:ext cx="423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EDF7F1"/>
                </a:solidFill>
              </a:defRPr>
            </a:pPr>
            <a:r>
              <a:rPr sz="1800" b="1" i="0">
                <a:solidFill>
                  <a:srgbClr val="EDF7F1"/>
                </a:solidFill>
              </a:rPr>
              <a:t>Generate repeatable premium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D1C904-D9CD-404A-9B2E-0B03280E1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47925"/>
            <a:ext cx="423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3B8AC"/>
                </a:solidFill>
              </a:defRPr>
            </a:pPr>
            <a:r>
              <a:rPr sz="1275" b="0" i="0">
                <a:solidFill>
                  <a:srgbClr val="A3B8AC"/>
                </a:solidFill>
              </a:rPr>
              <a:t>Fully collateralized option expressions.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3970B7-A8FF-4734-85A0-DDADD9A3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194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3C96B"/>
                </a:solidFill>
              </a:defRPr>
            </a:pPr>
            <a:r>
              <a:rPr sz="1200" b="1" i="0">
                <a:solidFill>
                  <a:srgbClr val="F3C96B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5CA503-3129-498C-82FB-873D580E3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81350"/>
            <a:ext cx="423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EDF7F1"/>
                </a:solidFill>
              </a:defRPr>
            </a:pPr>
            <a:r>
              <a:rPr sz="1800" b="1" i="0">
                <a:solidFill>
                  <a:srgbClr val="EDF7F1"/>
                </a:solidFill>
              </a:rPr>
              <a:t>Adapt when QQQ trend changes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869425-31AB-4EF8-9ADF-E689773C9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71875"/>
            <a:ext cx="423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3B8AC"/>
                </a:solidFill>
              </a:defRPr>
            </a:pPr>
            <a:r>
              <a:rPr sz="1275" b="0" i="0">
                <a:solidFill>
                  <a:srgbClr val="A3B8AC"/>
                </a:solidFill>
              </a:rPr>
              <a:t>One wheel, two deterministic postures.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2C987E-5DB9-4350-82F8-6F8B8C256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434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3C96B"/>
                </a:solidFill>
              </a:defRPr>
            </a:pPr>
            <a:r>
              <a:rPr sz="1200" b="1" i="0">
                <a:solidFill>
                  <a:srgbClr val="F3C96B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AC415B-5196-421F-950F-55F1687FB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305300"/>
            <a:ext cx="423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EDF7F1"/>
                </a:solidFill>
              </a:defRPr>
            </a:pPr>
            <a:r>
              <a:rPr sz="1800" b="1" i="0">
                <a:solidFill>
                  <a:srgbClr val="EDF7F1"/>
                </a:solidFill>
              </a:rPr>
              <a:t>Prove operation, not intention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CBFD11-EC5A-44FA-A9E8-7321D3D00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695825"/>
            <a:ext cx="423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3B8AC"/>
                </a:solidFill>
              </a:defRPr>
            </a:pPr>
            <a:r>
              <a:rPr sz="1275" b="0" i="0">
                <a:solidFill>
                  <a:srgbClr val="A3B8AC"/>
                </a:solidFill>
              </a:rPr>
              <a:t>Broker telemetry, audit records, and replay.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8F7A1B-F765-4F94-A422-5A654E6B5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A1ED12-EC5F-44A0-8CD7-972552292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F8579"/>
                </a:solidFill>
              </a:defRPr>
            </a:pPr>
            <a:r>
              <a:rPr sz="825" b="1" i="0">
                <a:solidFill>
                  <a:srgbClr val="6F8579"/>
                </a:solidFill>
              </a:rPr>
              <a:t>STABLE INCOME GENERATOR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E74493-EE74-4B40-8694-1DCC94C19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436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F8579"/>
                </a:solidFill>
              </a:defRPr>
            </a:pPr>
            <a:r>
              <a:rPr sz="825" b="1" i="0">
                <a:solidFill>
                  <a:srgbClr val="6F8579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688772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6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EAF476DF-8A80-4E0D-9FCF-0386A6EF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EE7B7"/>
                </a:solidFill>
              </a:defRPr>
            </a:pPr>
            <a:r>
              <a:rPr sz="1050" b="1" i="0">
                <a:solidFill>
                  <a:srgbClr val="6EE7B7"/>
                </a:solidFill>
              </a:rPr>
              <a:t>INSIDE V13.5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481FBB0-4E0A-4741-B638-7B7F419A3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0" i="0">
                <a:solidFill>
                  <a:srgbClr val="EDF7F1"/>
                </a:solidFill>
              </a:defRPr>
            </a:pPr>
            <a:r>
              <a:rPr sz="3000" b="0" i="0">
                <a:solidFill>
                  <a:srgbClr val="EDF7F1"/>
                </a:solidFill>
              </a:rPr>
              <a:t>One QQQ wheel. Two market postures.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243AB5D-30FE-48D7-A8FE-2CC10F65F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3B8AC"/>
                </a:solidFill>
              </a:defRPr>
            </a:pPr>
            <a:r>
              <a:rPr sz="1350" b="0" i="0">
                <a:solidFill>
                  <a:srgbClr val="A3B8AC"/>
                </a:solidFill>
              </a:rPr>
              <a:t>The prior close versus its prior 50-session SMA changes strike distance - not discretion.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5916A4-B3AF-4C47-BD13-B4ADBC8BF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9525" cy="266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48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168AFA-AB62-49A6-911A-95245DF6A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764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6EE7B7"/>
                </a:solidFill>
              </a:defRPr>
            </a:pPr>
            <a:r>
              <a:rPr sz="1350" b="1" i="0">
                <a:solidFill>
                  <a:srgbClr val="6EE7B7"/>
                </a:solidFill>
              </a:rPr>
              <a:t>UPTREND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D9E381-3145-4E83-B9E6-93D759DE8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0" i="0">
                <a:solidFill>
                  <a:srgbClr val="EDF7F1"/>
                </a:solidFill>
              </a:defRPr>
            </a:pPr>
            <a:r>
              <a:rPr sz="3000" b="0" i="0">
                <a:solidFill>
                  <a:srgbClr val="EDF7F1"/>
                </a:solidFill>
              </a:rPr>
              <a:t>1% OTM 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8C26D7-311A-4724-9C57-34AEE2021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71825"/>
            <a:ext cx="419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A8F0C6"/>
                </a:solidFill>
              </a:defRPr>
            </a:pPr>
            <a:r>
              <a:rPr sz="1875" b="1" i="0">
                <a:solidFill>
                  <a:srgbClr val="A8F0C6"/>
                </a:solidFill>
              </a:rPr>
              <a:t>3% OTM covered call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C3787F-8045-406F-A5D3-EA527B238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05250"/>
            <a:ext cx="4238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3B8AC"/>
                </a:solidFill>
              </a:defRPr>
            </a:pPr>
            <a:r>
              <a:rPr sz="1350" b="0" i="0">
                <a:solidFill>
                  <a:srgbClr val="A3B8AC"/>
                </a:solidFill>
              </a:rPr>
              <a:t>Collect put premium nearer the rising market while preserving more upside room on calls.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FF0853-7460-4FAA-A90E-0E994B8F0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764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3C96B"/>
                </a:solidFill>
              </a:defRPr>
            </a:pPr>
            <a:r>
              <a:rPr sz="1350" b="1" i="0">
                <a:solidFill>
                  <a:srgbClr val="F3C96B"/>
                </a:solidFill>
              </a:rPr>
              <a:t>DOWNTREND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1980CE-D3C4-4F7D-85BF-559086CA5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71750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0" i="0">
                <a:solidFill>
                  <a:srgbClr val="EDF7F1"/>
                </a:solidFill>
              </a:defRPr>
            </a:pPr>
            <a:r>
              <a:rPr sz="3000" b="0" i="0">
                <a:solidFill>
                  <a:srgbClr val="EDF7F1"/>
                </a:solidFill>
              </a:rPr>
              <a:t>3% OTM 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2D2159-0DA8-4C49-9EB4-633C934FE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71825"/>
            <a:ext cx="419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3C96B"/>
                </a:solidFill>
              </a:defRPr>
            </a:pPr>
            <a:r>
              <a:rPr sz="1875" b="1" i="0">
                <a:solidFill>
                  <a:srgbClr val="F3C96B"/>
                </a:solidFill>
              </a:rPr>
              <a:t>1% OTM covered call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DDBFC5-218C-42DA-B100-E7DA3459A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05250"/>
            <a:ext cx="4238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3B8AC"/>
                </a:solidFill>
              </a:defRPr>
            </a:pPr>
            <a:r>
              <a:rPr sz="1350" b="0" i="0">
                <a:solidFill>
                  <a:srgbClr val="A3B8AC"/>
                </a:solidFill>
              </a:rPr>
              <a:t>Move puts farther away while bringing calls closer to monetize a cautious regime.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1F9C00-DBDD-4552-A9BC-9F5D0F21B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FFFA38-21D2-4703-B69A-C6C9573B6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A8F0C6"/>
                </a:solidFill>
              </a:defRPr>
            </a:pPr>
            <a:r>
              <a:rPr sz="1275" b="1" i="0">
                <a:solidFill>
                  <a:srgbClr val="A8F0C6"/>
                </a:solidFill>
              </a:rPr>
              <a:t>QQQ ONLY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7F8227-7D28-4031-BDA8-D19DB9580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38162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A8F0C6"/>
                </a:solidFill>
              </a:defRPr>
            </a:pPr>
            <a:r>
              <a:rPr sz="1275" b="1" i="0">
                <a:solidFill>
                  <a:srgbClr val="A8F0C6"/>
                </a:solidFill>
              </a:rPr>
              <a:t>7-14 DTE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1957FD-0E0C-4207-BAAB-F72BD401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38162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A8F0C6"/>
                </a:solidFill>
              </a:defRPr>
            </a:pPr>
            <a:r>
              <a:rPr sz="1275" b="1" i="0">
                <a:solidFill>
                  <a:srgbClr val="A8F0C6"/>
                </a:solidFill>
              </a:rPr>
              <a:t>1 CONTRACT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3EA0AF-F389-4A7A-8CA2-D37D57342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38162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A8F0C6"/>
                </a:solidFill>
              </a:defRPr>
            </a:pPr>
            <a:r>
              <a:rPr sz="1275" b="1" i="0">
                <a:solidFill>
                  <a:srgbClr val="A8F0C6"/>
                </a:solidFill>
              </a:rPr>
              <a:t>&gt;15% PROFIT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2FFFDE-A118-44BB-A994-764B8A35C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38162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3C96B"/>
                </a:solidFill>
              </a:defRPr>
            </a:pPr>
            <a:r>
              <a:rPr sz="1275" b="1" i="0">
                <a:solidFill>
                  <a:srgbClr val="F3C96B"/>
                </a:solidFill>
              </a:rPr>
              <a:t>2% DAILY STOP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2CE13D-9AA7-4896-9BE8-34C4AC299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8864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6F8579"/>
                </a:solidFill>
              </a:defRPr>
            </a:pPr>
            <a:r>
              <a:rPr sz="1200" b="0" i="0">
                <a:solidFill>
                  <a:srgbClr val="6F8579"/>
                </a:solidFill>
              </a:rPr>
              <a:t>Cash-secured puts and share-covered calls only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298768-95FC-41FF-912F-E0F7614F6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E487A2-443C-4891-B359-FAC3E1C26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F8579"/>
                </a:solidFill>
              </a:defRPr>
            </a:pPr>
            <a:r>
              <a:rPr sz="825" b="1" i="0">
                <a:solidFill>
                  <a:srgbClr val="6F8579"/>
                </a:solidFill>
              </a:rPr>
              <a:t>STABLE INCOME GENERATOR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763B1F-B0A9-426D-87C8-9AE1B82DE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436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F8579"/>
                </a:solidFill>
              </a:defRPr>
            </a:pPr>
            <a:r>
              <a:rPr sz="825" b="1" i="0">
                <a:solidFill>
                  <a:srgbClr val="6F8579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158371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6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62DC4B94-EC73-4F23-A1E8-5AA6657B7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EE7B7"/>
                </a:solidFill>
              </a:defRPr>
            </a:pPr>
            <a:r>
              <a:rPr sz="1050" b="1" i="0">
                <a:solidFill>
                  <a:srgbClr val="6EE7B7"/>
                </a:solidFill>
              </a:rPr>
              <a:t>FROZEN BENCHMARK STUDY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10EAF44-3FB6-4926-830C-5FFF76C71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0" i="0">
                <a:solidFill>
                  <a:srgbClr val="EDF7F1"/>
                </a:solidFill>
              </a:defRPr>
            </a:pPr>
            <a:r>
              <a:rPr sz="3000" b="0" i="0">
                <a:solidFill>
                  <a:srgbClr val="EDF7F1"/>
                </a:solidFill>
              </a:rPr>
              <a:t>The backtest favors steadiness over beta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C71AE0D-EC12-4DFB-96E7-30CC1B104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3B8AC"/>
                </a:solidFill>
              </a:defRPr>
            </a:pPr>
            <a:r>
              <a:rPr sz="1350" b="0" i="0">
                <a:solidFill>
                  <a:srgbClr val="A3B8AC"/>
                </a:solidFill>
              </a:rPr>
              <a:t>V13.5 gave up upside in exchange for a shallower booked-equity drawdown and stronger downside-adjusted return.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14F090-09DB-41EC-903D-8D3715C92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38150"/>
            <a:ext cx="3762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6EE7B7"/>
                </a:solidFill>
              </a:defRPr>
            </a:pPr>
            <a:r>
              <a:rPr sz="1275" b="1" i="0">
                <a:solidFill>
                  <a:srgbClr val="6EE7B7"/>
                </a:solidFill>
              </a:rPr>
              <a:t>-7.15% MDD  |  2.44 SORTINO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30686017dc48e0"/>
          <a:stretch xmlns:a="http://schemas.openxmlformats.org/drawingml/2006/main"/>
        </p:blipFill>
        <p:spPr>
          <a:xfrm xmlns:a="http://schemas.openxmlformats.org/drawingml/2006/main">
            <a:off x="2124364" y="1714500"/>
            <a:ext cx="7943273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F290ED-8C9B-434C-BC78-3A284A3D4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62650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F8579"/>
                </a:solidFill>
              </a:defRPr>
            </a:pPr>
            <a:r>
              <a:rPr sz="1125" b="0" i="0">
                <a:solidFill>
                  <a:srgbClr val="6F8579"/>
                </a:solidFill>
              </a:rPr>
              <a:t>Exploratory in-sample proxy | 644 sessions | Jan 29, 2024 - Aug 24, 2026 | Not continuous mark-to-market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B0B26D-3797-434B-8B34-AD5C6C10D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8797D5-221B-45D4-9779-44849B8DB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F8579"/>
                </a:solidFill>
              </a:defRPr>
            </a:pPr>
            <a:r>
              <a:rPr sz="825" b="1" i="0">
                <a:solidFill>
                  <a:srgbClr val="6F8579"/>
                </a:solidFill>
              </a:rPr>
              <a:t>STABLE INCOME GENERATOR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6709A5-2FAB-465C-AF5B-775339229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436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F8579"/>
                </a:solidFill>
              </a:defRPr>
            </a:pPr>
            <a:r>
              <a:rPr sz="825" b="1" i="0">
                <a:solidFill>
                  <a:srgbClr val="6F8579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682591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6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6B491EE1-FC9D-431A-B62C-E9B2FA6C4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EE7B7"/>
                </a:solidFill>
              </a:defRPr>
            </a:pPr>
            <a:r>
              <a:rPr sz="1050" b="1" i="0">
                <a:solidFill>
                  <a:srgbClr val="6EE7B7"/>
                </a:solidFill>
              </a:rPr>
              <a:t>BROKER-REPORTED PAPER EVIDENCE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8AD5352-0F8D-4A15-948A-44D66821C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0" i="0">
                <a:solidFill>
                  <a:srgbClr val="EDF7F1"/>
                </a:solidFill>
              </a:defRPr>
            </a:pPr>
            <a:r>
              <a:rPr sz="3000" b="0" i="0">
                <a:solidFill>
                  <a:srgbClr val="EDF7F1"/>
                </a:solidFill>
              </a:rPr>
              <a:t>The system is already operating on Alpaca paper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8DA8E81-FA07-4B4D-97E6-783816D7A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3B8AC"/>
                </a:solidFill>
              </a:defRPr>
            </a:pPr>
            <a:r>
              <a:rPr sz="1350" b="0" i="0">
                <a:solidFill>
                  <a:srgbClr val="A3B8AC"/>
                </a:solidFill>
              </a:rPr>
              <a:t>A sanitized public snapshot separates observed paper behavior from historical research.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C320CE-EC23-4D47-8756-27C0A6975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0" i="0">
                <a:solidFill>
                  <a:srgbClr val="EDF7F1"/>
                </a:solidFill>
              </a:defRPr>
            </a:pPr>
            <a:r>
              <a:rPr sz="4350" b="0" i="0">
                <a:solidFill>
                  <a:srgbClr val="EDF7F1"/>
                </a:solidFill>
              </a:rPr>
              <a:t>$100,079.73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E7143B-8D43-4E50-AD53-585716A09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EE7B7"/>
                </a:solidFill>
              </a:defRPr>
            </a:pPr>
            <a:r>
              <a:rPr sz="1050" b="1" i="0">
                <a:solidFill>
                  <a:srgbClr val="6EE7B7"/>
                </a:solidFill>
              </a:rPr>
              <a:t>BROKER-REPORTED EQUITY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B1C3EC-CA71-490B-BB6E-CB36EC156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52825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6EE7B7"/>
                </a:solidFill>
              </a:defRPr>
            </a:pPr>
            <a:r>
              <a:rPr sz="2850" b="1" i="0">
                <a:solidFill>
                  <a:srgbClr val="6EE7B7"/>
                </a:solidFill>
              </a:rPr>
              <a:t>+$79.73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F731BC-D25F-4607-8483-0EE6DC4A2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3B8AC"/>
                </a:solidFill>
              </a:defRPr>
            </a:pPr>
            <a:r>
              <a:rPr sz="1275" b="0" i="0">
                <a:solidFill>
                  <a:srgbClr val="A3B8AC"/>
                </a:solidFill>
              </a:rPr>
              <a:t>since fresh $100K baseline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F02DCA-53FC-4454-8D46-93FC7F82C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96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A8F0C6"/>
                </a:solidFill>
              </a:defRPr>
            </a:pPr>
            <a:r>
              <a:rPr sz="1800" b="1" i="0">
                <a:solidFill>
                  <a:srgbClr val="A8F0C6"/>
                </a:solidFill>
              </a:rPr>
              <a:t>+$150.00 today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0D1C3E-27A7-4BA4-B72F-3BA99FD96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F8579"/>
                </a:solidFill>
              </a:defRPr>
            </a:pPr>
            <a:r>
              <a:rPr sz="1125" b="0" i="0">
                <a:solidFill>
                  <a:srgbClr val="6F8579"/>
                </a:solidFill>
              </a:rPr>
              <a:t>Account 4c0db2cd-f24c-419f-a9fb-339a24cdef1c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9BE19D-220E-474A-BD77-D84B3DF38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952625"/>
            <a:ext cx="9525" cy="390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483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2E077F-2854-4B48-B42C-B586A43D8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00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3C96B"/>
                </a:solidFill>
              </a:defRPr>
            </a:pPr>
            <a:r>
              <a:rPr sz="1050" b="1" i="0">
                <a:solidFill>
                  <a:srgbClr val="F3C96B"/>
                </a:solidFill>
              </a:rPr>
              <a:t>MOST RECENT SYSTEM FILLS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4C597F-C7D8-49F7-BA87-431755F4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2412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F8579"/>
                </a:solidFill>
              </a:defRPr>
            </a:pPr>
            <a:r>
              <a:rPr sz="1200" b="0" i="0">
                <a:solidFill>
                  <a:srgbClr val="6F8579"/>
                </a:solidFill>
              </a:rPr>
              <a:t>11:42 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4EEADF-BC2A-4A1C-88BF-1D10608EE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24125"/>
            <a:ext cx="1666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EE7B7"/>
                </a:solidFill>
              </a:defRPr>
            </a:pPr>
            <a:r>
              <a:rPr sz="1200" b="1" i="0">
                <a:solidFill>
                  <a:srgbClr val="6EE7B7"/>
                </a:solidFill>
              </a:rPr>
              <a:t>SELL TO OPEN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8C71A8-86A0-4328-87B2-D66B1867F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2412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EDF7F1"/>
                </a:solidFill>
              </a:defRPr>
            </a:pPr>
            <a:r>
              <a:rPr sz="1200" b="1" i="0">
                <a:solidFill>
                  <a:srgbClr val="EDF7F1"/>
                </a:solidFill>
              </a:rPr>
              <a:t>QQQ $704 PUT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487D9E-AC81-4741-B379-01A6B6B42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524125"/>
            <a:ext cx="714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EDF7F1"/>
                </a:solidFill>
              </a:defRPr>
            </a:pPr>
            <a:r>
              <a:rPr sz="1200" b="0" i="0">
                <a:solidFill>
                  <a:srgbClr val="EDF7F1"/>
                </a:solidFill>
              </a:rPr>
              <a:t>$2.78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873E6E-22F2-4CF7-B81D-E689B7F3D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05125"/>
            <a:ext cx="50958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907131-3881-4C4D-8629-5A79A7F6A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1467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F8579"/>
                </a:solidFill>
              </a:defRPr>
            </a:pPr>
            <a:r>
              <a:rPr sz="1200" b="0" i="0">
                <a:solidFill>
                  <a:srgbClr val="6F8579"/>
                </a:solidFill>
              </a:rPr>
              <a:t>11:41 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A007D1-E4F9-4DD7-BB04-85FB6F76B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14675"/>
            <a:ext cx="1666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3C96B"/>
                </a:solidFill>
              </a:defRPr>
            </a:pPr>
            <a:r>
              <a:rPr sz="1200" b="1" i="0">
                <a:solidFill>
                  <a:srgbClr val="F3C96B"/>
                </a:solidFill>
              </a:rPr>
              <a:t>BUY TO CLOSE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362E8D-0D72-40DD-A160-1F13A11C0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1467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EDF7F1"/>
                </a:solidFill>
              </a:defRPr>
            </a:pPr>
            <a:r>
              <a:rPr sz="1200" b="1" i="0">
                <a:solidFill>
                  <a:srgbClr val="EDF7F1"/>
                </a:solidFill>
              </a:rPr>
              <a:t>QQQ $702 PUT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FB0A0D-389E-46D8-BA69-4A069A04C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114675"/>
            <a:ext cx="714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EDF7F1"/>
                </a:solidFill>
              </a:defRPr>
            </a:pPr>
            <a:r>
              <a:rPr sz="1200" b="0" i="0">
                <a:solidFill>
                  <a:srgbClr val="EDF7F1"/>
                </a:solidFill>
              </a:rPr>
              <a:t>$2.37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C39B4E-D99F-4D75-A227-574B124A7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95675"/>
            <a:ext cx="50958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5957F3-7F6E-4531-93CD-4B8CF85B7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0522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F8579"/>
                </a:solidFill>
              </a:defRPr>
            </a:pPr>
            <a:r>
              <a:rPr sz="1200" b="0" i="0">
                <a:solidFill>
                  <a:srgbClr val="6F8579"/>
                </a:solidFill>
              </a:rPr>
              <a:t>10:31 ET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3F9B62-2939-4722-AA35-1D63E1DCD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05225"/>
            <a:ext cx="1666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EE7B7"/>
                </a:solidFill>
              </a:defRPr>
            </a:pPr>
            <a:r>
              <a:rPr sz="1200" b="1" i="0">
                <a:solidFill>
                  <a:srgbClr val="6EE7B7"/>
                </a:solidFill>
              </a:rPr>
              <a:t>SELL TO OPEN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7019D4-8F74-463B-8243-64B545676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70522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EDF7F1"/>
                </a:solidFill>
              </a:defRPr>
            </a:pPr>
            <a:r>
              <a:rPr sz="1200" b="1" i="0">
                <a:solidFill>
                  <a:srgbClr val="EDF7F1"/>
                </a:solidFill>
              </a:rPr>
              <a:t>QQQ $702 PUT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26F255-AEAE-4EF2-BD88-14B17E29C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705225"/>
            <a:ext cx="714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EDF7F1"/>
                </a:solidFill>
              </a:defRPr>
            </a:pPr>
            <a:r>
              <a:rPr sz="1200" b="0" i="0">
                <a:solidFill>
                  <a:srgbClr val="EDF7F1"/>
                </a:solidFill>
              </a:rPr>
              <a:t>$2.86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530F0E-9E6F-415E-91E0-F73244920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86225"/>
            <a:ext cx="50958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257DD7-DFDC-4CF2-8E42-30F7DAE06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9577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F8579"/>
                </a:solidFill>
              </a:defRPr>
            </a:pPr>
            <a:r>
              <a:rPr sz="1200" b="0" i="0">
                <a:solidFill>
                  <a:srgbClr val="6F8579"/>
                </a:solidFill>
              </a:rPr>
              <a:t>10:30 ET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472357-5BE1-430C-8EE0-F7597823D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95775"/>
            <a:ext cx="1666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3C96B"/>
                </a:solidFill>
              </a:defRPr>
            </a:pPr>
            <a:r>
              <a:rPr sz="1200" b="1" i="0">
                <a:solidFill>
                  <a:srgbClr val="F3C96B"/>
                </a:solidFill>
              </a:rPr>
              <a:t>BUY TO CLOSE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09F0E1-AF6E-46E1-83A0-6A8AD39D7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29577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EDF7F1"/>
                </a:solidFill>
              </a:defRPr>
            </a:pPr>
            <a:r>
              <a:rPr sz="1200" b="1" i="0">
                <a:solidFill>
                  <a:srgbClr val="EDF7F1"/>
                </a:solidFill>
              </a:rPr>
              <a:t>QQQ $700 PUT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93AF57E-97E6-4833-9D0E-CDD780161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295775"/>
            <a:ext cx="714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EDF7F1"/>
                </a:solidFill>
              </a:defRPr>
            </a:pPr>
            <a:r>
              <a:rPr sz="1200" b="0" i="0">
                <a:solidFill>
                  <a:srgbClr val="EDF7F1"/>
                </a:solidFill>
              </a:rPr>
              <a:t>$2.57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93AD1D-1E62-4186-9AF9-9C1D3412A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76775"/>
            <a:ext cx="50958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4B6F820-C879-4180-8976-1A6A3865E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8632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F8579"/>
                </a:solidFill>
              </a:defRPr>
            </a:pPr>
            <a:r>
              <a:rPr sz="1200" b="0" i="0">
                <a:solidFill>
                  <a:srgbClr val="6F8579"/>
                </a:solidFill>
              </a:rPr>
              <a:t>10:01 ET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0C366C6-ABBE-4031-85DC-2D4F58DDE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86325"/>
            <a:ext cx="1666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EE7B7"/>
                </a:solidFill>
              </a:defRPr>
            </a:pPr>
            <a:r>
              <a:rPr sz="1200" b="1" i="0">
                <a:solidFill>
                  <a:srgbClr val="6EE7B7"/>
                </a:solidFill>
              </a:rPr>
              <a:t>SELL TO OPEN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B164BB1-E9C0-405C-86B4-CC419C47C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88632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EDF7F1"/>
                </a:solidFill>
              </a:defRPr>
            </a:pPr>
            <a:r>
              <a:rPr sz="1200" b="1" i="0">
                <a:solidFill>
                  <a:srgbClr val="EDF7F1"/>
                </a:solidFill>
              </a:rPr>
              <a:t>QQQ $700 PUT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AB80182-0ADA-440B-BED4-88922CBC4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886325"/>
            <a:ext cx="714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EDF7F1"/>
                </a:solidFill>
              </a:defRPr>
            </a:pPr>
            <a:r>
              <a:rPr sz="1200" b="0" i="0">
                <a:solidFill>
                  <a:srgbClr val="EDF7F1"/>
                </a:solidFill>
              </a:rPr>
              <a:t>$3.06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B191710-E192-4AB2-A605-19F6EE2A1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676900"/>
            <a:ext cx="509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6F8579"/>
                </a:solidFill>
              </a:defRPr>
            </a:pPr>
            <a:r>
              <a:rPr sz="1125" b="0" i="0">
                <a:solidFill>
                  <a:srgbClr val="6F8579"/>
                </a:solidFill>
              </a:rPr>
              <a:t>Captured Sep 2, 2026 at 7:13 PM EDT | Paper trading is simulated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401E34B-C043-405F-BE01-161675CCA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901D79A-05C2-4932-BB29-BD9B2C31C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F8579"/>
                </a:solidFill>
              </a:defRPr>
            </a:pPr>
            <a:r>
              <a:rPr sz="825" b="1" i="0">
                <a:solidFill>
                  <a:srgbClr val="6F8579"/>
                </a:solidFill>
              </a:rPr>
              <a:t>STABLE INCOME GENERATOR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3722A8E-D543-4AAA-8EB0-224A66DB1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436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F8579"/>
                </a:solidFill>
              </a:defRPr>
            </a:pPr>
            <a:r>
              <a:rPr sz="825" b="1" i="0">
                <a:solidFill>
                  <a:srgbClr val="6F8579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281692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6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47E872FB-6F3B-4F53-85B3-9E8DF9909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EE7B7"/>
                </a:solidFill>
              </a:defRPr>
            </a:pPr>
            <a:r>
              <a:rPr sz="1050" b="1" i="0">
                <a:solidFill>
                  <a:srgbClr val="6EE7B7"/>
                </a:solidFill>
              </a:rPr>
              <a:t>DETERMINISM + INTELLIGENCE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7564056-2E15-4336-B50E-F74EC29E5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0" i="0">
                <a:solidFill>
                  <a:srgbClr val="EDF7F1"/>
                </a:solidFill>
              </a:defRPr>
            </a:pPr>
            <a:r>
              <a:rPr sz="3000" b="0" i="0">
                <a:solidFill>
                  <a:srgbClr val="EDF7F1"/>
                </a:solidFill>
              </a:rPr>
              <a:t>AI can veto. Deterministic controls retain authority.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4F0845A-EF41-4281-B702-CD7BDC310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3B8AC"/>
                </a:solidFill>
              </a:defRPr>
            </a:pPr>
            <a:r>
              <a:rPr sz="1350" b="0" i="0">
                <a:solidFill>
                  <a:srgbClr val="A3B8AC"/>
                </a:solidFill>
              </a:rPr>
              <a:t>The model contributes context-sensitive restraint without gaining executable control.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BA0451-1261-4EAD-889E-828680738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714625"/>
            <a:ext cx="3619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EE7B7"/>
          </a:solidFill>
          <a:ln xmlns:a="http://schemas.openxmlformats.org/drawingml/2006/main" w="0">
            <a:solidFill>
              <a:srgbClr val="6EE7B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0067B9-F2DA-4839-BFAC-5A8626E7F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714625"/>
            <a:ext cx="3619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EE7B7"/>
          </a:solidFill>
          <a:ln xmlns:a="http://schemas.openxmlformats.org/drawingml/2006/main" w="0">
            <a:solidFill>
              <a:srgbClr val="6EE7B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5BBBF0-2AE8-4E42-AE3A-9E0D8938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14625"/>
            <a:ext cx="3619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EE7B7"/>
          </a:solidFill>
          <a:ln xmlns:a="http://schemas.openxmlformats.org/drawingml/2006/main" w="0">
            <a:solidFill>
              <a:srgbClr val="6EE7B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26E26E-9382-4E5B-B5FE-876193AC6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714625"/>
            <a:ext cx="3619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EE7B7"/>
          </a:solidFill>
          <a:ln xmlns:a="http://schemas.openxmlformats.org/drawingml/2006/main" w="0">
            <a:solidFill>
              <a:srgbClr val="6EE7B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9F75C0-C438-49C0-A99F-C2BD70695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38375"/>
            <a:ext cx="176212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A21"/>
          </a:solidFill>
          <a:ln xmlns:a="http://schemas.openxmlformats.org/drawingml/2006/main" w="19050">
            <a:solidFill>
              <a:srgbClr val="A8F0C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D4753B-243C-41C4-8E47-5FB5AF9F1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09825"/>
            <a:ext cx="1495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EDF7F1"/>
                </a:solidFill>
              </a:defRPr>
            </a:pPr>
            <a:r>
              <a:rPr sz="1500" b="1" i="0">
                <a:solidFill>
                  <a:srgbClr val="EDF7F1"/>
                </a:solidFill>
              </a:rPr>
              <a:t>Market context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0CEEAE-8D85-465C-8D76-766867CD7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28925"/>
            <a:ext cx="1533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A8F0C6"/>
                </a:solidFill>
              </a:defRPr>
            </a:pPr>
            <a:r>
              <a:rPr sz="1125" b="1" i="0">
                <a:solidFill>
                  <a:srgbClr val="A8F0C6"/>
                </a:solidFill>
              </a:rPr>
              <a:t>ECONOMIC DATA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09518D-B7A4-4D0F-92A7-CABC10E09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238375"/>
            <a:ext cx="176212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A21"/>
          </a:solidFill>
          <a:ln xmlns:a="http://schemas.openxmlformats.org/drawingml/2006/main" w="19050">
            <a:solidFill>
              <a:srgbClr val="6EE7B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7ECF33-9815-43D6-9527-4E3E4634A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409825"/>
            <a:ext cx="1495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EDF7F1"/>
                </a:solidFill>
              </a:defRPr>
            </a:pPr>
            <a:r>
              <a:rPr sz="1500" b="1" i="0">
                <a:solidFill>
                  <a:srgbClr val="EDF7F1"/>
                </a:solidFill>
              </a:rPr>
              <a:t>V13.5 proposal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5CD83A-4D2D-4EDA-8EFE-2E271D491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828925"/>
            <a:ext cx="1533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6EE7B7"/>
                </a:solidFill>
              </a:defRPr>
            </a:pPr>
            <a:r>
              <a:rPr sz="1125" b="1" i="0">
                <a:solidFill>
                  <a:srgbClr val="6EE7B7"/>
                </a:solidFill>
              </a:rPr>
              <a:t>SEMANTIC ONLY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AB15B2-E028-405B-850E-6514EDDBF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238375"/>
            <a:ext cx="176212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A21"/>
          </a:solidFill>
          <a:ln xmlns:a="http://schemas.openxmlformats.org/drawingml/2006/main" w="19050">
            <a:solidFill>
              <a:srgbClr val="F3C96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EE8AB2-0A98-43E2-822E-90BAAE4B9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409825"/>
            <a:ext cx="1495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EDF7F1"/>
                </a:solidFill>
              </a:defRPr>
            </a:pPr>
            <a:r>
              <a:rPr sz="1500" b="1" i="0">
                <a:solidFill>
                  <a:srgbClr val="EDF7F1"/>
                </a:solidFill>
              </a:rPr>
              <a:t>Gemini 3.6 Flash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1B3528-0783-460C-BD7A-135A1B7C1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828925"/>
            <a:ext cx="1533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3C96B"/>
                </a:solidFill>
              </a:defRPr>
            </a:pPr>
            <a:r>
              <a:rPr sz="1125" b="1" i="0">
                <a:solidFill>
                  <a:srgbClr val="F3C96B"/>
                </a:solidFill>
              </a:rPr>
              <a:t>ALLOW / VETO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6F1861-DB9A-45C2-A15B-9E8274054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238375"/>
            <a:ext cx="176212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A21"/>
          </a:solidFill>
          <a:ln xmlns:a="http://schemas.openxmlformats.org/drawingml/2006/main" w="19050">
            <a:solidFill>
              <a:srgbClr val="6EE7B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71C134-C745-4D11-BC7E-5172D6067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409825"/>
            <a:ext cx="1495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EDF7F1"/>
                </a:solidFill>
              </a:defRPr>
            </a:pPr>
            <a:r>
              <a:rPr sz="1500" b="1" i="0">
                <a:solidFill>
                  <a:srgbClr val="EDF7F1"/>
                </a:solidFill>
              </a:rPr>
              <a:t>Risk + preflight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C50E85-8BC8-45A7-B208-8D019C3FB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828925"/>
            <a:ext cx="1533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6EE7B7"/>
                </a:solidFill>
              </a:defRPr>
            </a:pPr>
            <a:r>
              <a:rPr sz="1125" b="1" i="0">
                <a:solidFill>
                  <a:srgbClr val="6EE7B7"/>
                </a:solidFill>
              </a:rPr>
              <a:t>REVALIDATE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65AFE0-C2A1-42D6-8DCE-C8CAAE22C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238375"/>
            <a:ext cx="176212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A21"/>
          </a:solidFill>
          <a:ln xmlns:a="http://schemas.openxmlformats.org/drawingml/2006/main" w="19050">
            <a:solidFill>
              <a:srgbClr val="A8F0C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C3D555-ED24-42EF-8B4B-8583D5B76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09825"/>
            <a:ext cx="1495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EDF7F1"/>
                </a:solidFill>
              </a:defRPr>
            </a:pPr>
            <a:r>
              <a:rPr sz="1500" b="1" i="0">
                <a:solidFill>
                  <a:srgbClr val="EDF7F1"/>
                </a:solidFill>
              </a:rPr>
              <a:t>Alpaca paper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0BAB32-E0A5-4481-BC7A-C09E57F41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828925"/>
            <a:ext cx="1533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A8F0C6"/>
                </a:solidFill>
              </a:defRPr>
            </a:pPr>
            <a:r>
              <a:rPr sz="1125" b="1" i="0">
                <a:solidFill>
                  <a:srgbClr val="A8F0C6"/>
                </a:solidFill>
              </a:rPr>
              <a:t>EXECUTION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A42FFB-5F7D-45A8-A23D-2C0092242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0050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EDF7F1"/>
                </a:solidFill>
              </a:defRPr>
            </a:pPr>
            <a:r>
              <a:rPr sz="2175" b="1" i="0">
                <a:solidFill>
                  <a:srgbClr val="EDF7F1"/>
                </a:solidFill>
              </a:rPr>
              <a:t>No model-generated contract, size, price, or execution command.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02F533-8AD1-4A96-8569-CFE9F6628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857750"/>
            <a:ext cx="9239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0A1D17"/>
          </a:solidFill>
          <a:ln xmlns:a="http://schemas.openxmlformats.org/drawingml/2006/main" w="9525">
            <a:solidFill>
              <a:srgbClr val="F3C96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73BD12-FE94-4EB6-8DF8-4DB76C5A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00625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3C96B"/>
                </a:solidFill>
              </a:defRPr>
            </a:pPr>
            <a:r>
              <a:rPr sz="975" b="1" i="0">
                <a:solidFill>
                  <a:srgbClr val="F3C96B"/>
                </a:solidFill>
              </a:rPr>
              <a:t>CURRENT LIVE BOUNDARY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325414-DB62-48F9-92FE-8A05A8954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97205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3B8AC"/>
                </a:solidFill>
              </a:defRPr>
            </a:pPr>
            <a:r>
              <a:rPr sz="1275" b="0" i="0">
                <a:solidFill>
                  <a:srgbClr val="A3B8AC"/>
                </a:solidFill>
              </a:rPr>
              <a:t>The V13.5 paper canary is deterministic-only. The hybrid gate is implemented and replay-tested in the broader platform.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1E6219-9472-4985-897F-D2B861BEC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B3A2C5-1F62-4A2F-B286-F015E8470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F8579"/>
                </a:solidFill>
              </a:defRPr>
            </a:pPr>
            <a:r>
              <a:rPr sz="825" b="1" i="0">
                <a:solidFill>
                  <a:srgbClr val="6F8579"/>
                </a:solidFill>
              </a:rPr>
              <a:t>STABLE INCOME GENERATOR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802F87-B67B-4B1A-A952-1A60F4231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436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F8579"/>
                </a:solidFill>
              </a:defRPr>
            </a:pPr>
            <a:r>
              <a:rPr sz="825" b="1" i="0">
                <a:solidFill>
                  <a:srgbClr val="6F8579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9916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6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F8A90068-3980-4962-9B1A-8D3287CA9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EE7B7"/>
                </a:solidFill>
              </a:defRPr>
            </a:pPr>
            <a:r>
              <a:rPr sz="1050" b="1" i="0">
                <a:solidFill>
                  <a:srgbClr val="6EE7B7"/>
                </a:solidFill>
              </a:rPr>
              <a:t>PORTABLE BY CONSTRUCTION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C734E3C-3DDA-4D8F-88CE-FFC552A9F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0" i="0">
                <a:solidFill>
                  <a:srgbClr val="EDF7F1"/>
                </a:solidFill>
              </a:defRPr>
            </a:pPr>
            <a:r>
              <a:rPr sz="3000" b="0" i="0">
                <a:solidFill>
                  <a:srgbClr val="EDF7F1"/>
                </a:solidFill>
              </a:rPr>
              <a:t>Containers move the system without sharing authority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3123CBC-3BBE-45BF-BA2B-7931D26E0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3B8AC"/>
                </a:solidFill>
              </a:defRPr>
            </a:pPr>
            <a:r>
              <a:rPr sz="1350" b="0" i="0">
                <a:solidFill>
                  <a:srgbClr val="A3B8AC"/>
                </a:solidFill>
              </a:rPr>
              <a:t>Config selects behavior; role boundaries constrain credentials, network access, and broker reach.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C58170-2397-4884-ADC3-185735F12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857375"/>
            <a:ext cx="1133475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0A1D17"/>
          </a:solidFill>
          <a:ln xmlns:a="http://schemas.openxmlformats.org/drawingml/2006/main" w="19050">
            <a:solidFill>
              <a:srgbClr val="2448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C3684D-295D-4029-9B95-5977931EA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47875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F8579"/>
                </a:solidFill>
              </a:defRPr>
            </a:pPr>
            <a:r>
              <a:rPr sz="975" b="1" i="0">
                <a:solidFill>
                  <a:srgbClr val="6F8579"/>
                </a:solidFill>
              </a:rPr>
              <a:t>LOCAL ARM64  /  CLOUD VM  /  CONTAINER RUNNER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F8328B-DCB0-4ADB-A33E-FF53ECA52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857500"/>
            <a:ext cx="2762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EE7B7"/>
          </a:solidFill>
          <a:ln xmlns:a="http://schemas.openxmlformats.org/drawingml/2006/main" w="0">
            <a:solidFill>
              <a:srgbClr val="6EE7B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595E18-CF91-4B98-92D8-355F7A63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857500"/>
            <a:ext cx="2762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EE7B7"/>
          </a:solidFill>
          <a:ln xmlns:a="http://schemas.openxmlformats.org/drawingml/2006/main" w="0">
            <a:solidFill>
              <a:srgbClr val="6EE7B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736745-C221-4482-B811-56B8EC27D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57500"/>
            <a:ext cx="2762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EE7B7"/>
          </a:solidFill>
          <a:ln xmlns:a="http://schemas.openxmlformats.org/drawingml/2006/main" w="0">
            <a:solidFill>
              <a:srgbClr val="6EE7B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ACAB64-CD63-4D0D-975D-BB4289BEB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57500"/>
            <a:ext cx="2762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EE7B7"/>
          </a:solidFill>
          <a:ln xmlns:a="http://schemas.openxmlformats.org/drawingml/2006/main" w="0">
            <a:solidFill>
              <a:srgbClr val="6EE7B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63676C-29C5-4DD7-BA0D-04AA948B1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67125"/>
            <a:ext cx="17145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6EE7B7"/>
          </a:solidFill>
          <a:ln xmlns:a="http://schemas.openxmlformats.org/drawingml/2006/main" w="0">
            <a:solidFill>
              <a:srgbClr val="6EE7B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2AFD55-67E7-4763-A248-CE20EE705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667125"/>
            <a:ext cx="17145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6EE7B7"/>
          </a:solidFill>
          <a:ln xmlns:a="http://schemas.openxmlformats.org/drawingml/2006/main" w="0">
            <a:solidFill>
              <a:srgbClr val="6EE7B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997DD6-33C7-4658-A264-40885EC32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667125"/>
            <a:ext cx="17145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6EE7B7"/>
          </a:solidFill>
          <a:ln xmlns:a="http://schemas.openxmlformats.org/drawingml/2006/main" w="0">
            <a:solidFill>
              <a:srgbClr val="6EE7B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A470CA-6B60-43D9-A805-42D2377B3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667125"/>
            <a:ext cx="17145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6EE7B7"/>
          </a:solidFill>
          <a:ln xmlns:a="http://schemas.openxmlformats.org/drawingml/2006/main" w="0">
            <a:solidFill>
              <a:srgbClr val="6EE7B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C3DB90-2258-49A3-AE46-45303A9E2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667125"/>
            <a:ext cx="17145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6EE7B7"/>
          </a:solidFill>
          <a:ln xmlns:a="http://schemas.openxmlformats.org/drawingml/2006/main" w="0">
            <a:solidFill>
              <a:srgbClr val="6EE7B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F13480-66B1-4DAF-8DFE-741BC5297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0"/>
            <a:ext cx="166687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A21"/>
          </a:solidFill>
          <a:ln xmlns:a="http://schemas.openxmlformats.org/drawingml/2006/main" w="19050">
            <a:solidFill>
              <a:srgbClr val="6EE7B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5B91AD-AEDE-4BFB-B919-B260BD6BC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1400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EDF7F1"/>
                </a:solidFill>
              </a:defRPr>
            </a:pPr>
            <a:r>
              <a:rPr sz="1500" b="1" i="0">
                <a:solidFill>
                  <a:srgbClr val="EDF7F1"/>
                </a:solidFill>
              </a:rPr>
              <a:t>Data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0510E9-4EA6-4DB4-B705-AF3015FB4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1438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6EE7B7"/>
                </a:solidFill>
              </a:defRPr>
            </a:pPr>
            <a:r>
              <a:rPr sz="1125" b="1" i="0">
                <a:solidFill>
                  <a:srgbClr val="6EE7B7"/>
                </a:solidFill>
              </a:rPr>
              <a:t>MARKET CONTEXT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DC1EE1-960A-4633-91A0-CCBD92A0F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476500"/>
            <a:ext cx="166687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A21"/>
          </a:solidFill>
          <a:ln xmlns:a="http://schemas.openxmlformats.org/drawingml/2006/main" w="19050">
            <a:solidFill>
              <a:srgbClr val="6EE7B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8EA1A6-69B2-4495-8C93-F117F7B31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647950"/>
            <a:ext cx="1400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EDF7F1"/>
                </a:solidFill>
              </a:defRPr>
            </a:pPr>
            <a:r>
              <a:rPr sz="1500" b="1" i="0">
                <a:solidFill>
                  <a:srgbClr val="EDF7F1"/>
                </a:solidFill>
              </a:rPr>
              <a:t>Strategy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6AB307-D126-46FB-8583-CD229429E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067050"/>
            <a:ext cx="1438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6EE7B7"/>
                </a:solidFill>
              </a:defRPr>
            </a:pPr>
            <a:r>
              <a:rPr sz="1125" b="1" i="0">
                <a:solidFill>
                  <a:srgbClr val="6EE7B7"/>
                </a:solidFill>
              </a:rPr>
              <a:t>PURE SIGNAL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7AFD29-D108-46C8-B428-1DCE9CEBC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76500"/>
            <a:ext cx="166687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A21"/>
          </a:solidFill>
          <a:ln xmlns:a="http://schemas.openxmlformats.org/drawingml/2006/main" w="19050">
            <a:solidFill>
              <a:srgbClr val="F3C96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12F834-D2E8-4E68-9A5A-DE1843026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647950"/>
            <a:ext cx="1400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EDF7F1"/>
                </a:solidFill>
              </a:defRPr>
            </a:pPr>
            <a:r>
              <a:rPr sz="1500" b="1" i="0">
                <a:solidFill>
                  <a:srgbClr val="EDF7F1"/>
                </a:solidFill>
              </a:rPr>
              <a:t>Agent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5EDEFD-2A32-4D07-B7F9-1FC1C999D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067050"/>
            <a:ext cx="1438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3C96B"/>
                </a:solidFill>
              </a:defRPr>
            </a:pPr>
            <a:r>
              <a:rPr sz="1125" b="1" i="0">
                <a:solidFill>
                  <a:srgbClr val="F3C96B"/>
                </a:solidFill>
              </a:rPr>
              <a:t>ALLOW / VETO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657A36-0D87-4CCE-AF2E-FEF68CB8D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166687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A21"/>
          </a:solidFill>
          <a:ln xmlns:a="http://schemas.openxmlformats.org/drawingml/2006/main" w="19050">
            <a:solidFill>
              <a:srgbClr val="6EE7B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B9F968-91FA-4710-B6E2-7EF974C77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47950"/>
            <a:ext cx="1400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EDF7F1"/>
                </a:solidFill>
              </a:defRPr>
            </a:pPr>
            <a:r>
              <a:rPr sz="1500" b="1" i="0">
                <a:solidFill>
                  <a:srgbClr val="EDF7F1"/>
                </a:solidFill>
              </a:rPr>
              <a:t>Risk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536EA0-9A8A-4FF0-8083-3D45C3868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067050"/>
            <a:ext cx="1438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6EE7B7"/>
                </a:solidFill>
              </a:defRPr>
            </a:pPr>
            <a:r>
              <a:rPr sz="1125" b="1" i="0">
                <a:solidFill>
                  <a:srgbClr val="6EE7B7"/>
                </a:solidFill>
              </a:rPr>
              <a:t>HASH-BOUND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79183D-CCB2-40A3-9AAA-87577448C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76500"/>
            <a:ext cx="166687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A21"/>
          </a:solidFill>
          <a:ln xmlns:a="http://schemas.openxmlformats.org/drawingml/2006/main" w="19050">
            <a:solidFill>
              <a:srgbClr val="6EE7B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95B178-D11B-4F10-9BEE-92646C0F5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647950"/>
            <a:ext cx="1400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EDF7F1"/>
                </a:solidFill>
              </a:defRPr>
            </a:pPr>
            <a:r>
              <a:rPr sz="1500" b="1" i="0">
                <a:solidFill>
                  <a:srgbClr val="EDF7F1"/>
                </a:solidFill>
              </a:rPr>
              <a:t>Execution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CDBBDC-B1ED-42DC-B2AF-E3E1FEDA8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067050"/>
            <a:ext cx="1438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6EE7B7"/>
                </a:solidFill>
              </a:defRPr>
            </a:pPr>
            <a:r>
              <a:rPr sz="1125" b="1" i="0">
                <a:solidFill>
                  <a:srgbClr val="6EE7B7"/>
                </a:solidFill>
              </a:rPr>
              <a:t>PAPER KEY ONLY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D42283-8E50-4D61-85D5-DD4B1C6E3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000500"/>
            <a:ext cx="70485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A21"/>
          </a:solidFill>
          <a:ln xmlns:a="http://schemas.openxmlformats.org/drawingml/2006/main" w="19050">
            <a:solidFill>
              <a:srgbClr val="A8F0C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FCFDA0-48D0-4D6C-87C9-97F3F2223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719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EDF7F1"/>
                </a:solidFill>
              </a:defRPr>
            </a:pPr>
            <a:r>
              <a:rPr sz="1725" b="1" i="0">
                <a:solidFill>
                  <a:srgbClr val="EDF7F1"/>
                </a:solidFill>
              </a:rPr>
              <a:t>PostgreSQL 18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AD8056D-E466-4778-A3DA-06DC541A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19575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A8F0C6"/>
                </a:solidFill>
              </a:defRPr>
            </a:pPr>
            <a:r>
              <a:rPr sz="1050" b="1" i="0">
                <a:solidFill>
                  <a:srgbClr val="A8F0C6"/>
                </a:solidFill>
              </a:rPr>
              <a:t>EVENT LEDGER  |  AUDIT  |  OUTBOX / INBOX  |  RECONCILIATION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DA14F12-0190-4AEE-BE78-89175C2A3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429250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 i="0">
                <a:solidFill>
                  <a:srgbClr val="EDF7F1"/>
                </a:solidFill>
              </a:defRPr>
            </a:pPr>
            <a:r>
              <a:rPr sz="2250" b="0" i="0">
                <a:solidFill>
                  <a:srgbClr val="EDF7F1"/>
                </a:solidFill>
              </a:rPr>
              <a:t>Same contracts. Same configuration. New host.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28913F7-B153-41FA-A19B-2559399AD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0C34D1C-3259-4ABD-B641-3A9FF25CE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F8579"/>
                </a:solidFill>
              </a:defRPr>
            </a:pPr>
            <a:r>
              <a:rPr sz="825" b="1" i="0">
                <a:solidFill>
                  <a:srgbClr val="6F8579"/>
                </a:solidFill>
              </a:rPr>
              <a:t>STABLE INCOME GENERATOR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B76BFD6-1D91-43F8-876D-34B10162D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436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F8579"/>
                </a:solidFill>
              </a:defRPr>
            </a:pPr>
            <a:r>
              <a:rPr sz="825" b="1" i="0">
                <a:solidFill>
                  <a:srgbClr val="6F8579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74178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6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4BA14706-683E-468D-A968-69DF4BC6F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EE7B7"/>
                </a:solidFill>
              </a:defRPr>
            </a:pPr>
            <a:r>
              <a:rPr sz="1050" b="1" i="0">
                <a:solidFill>
                  <a:srgbClr val="6EE7B7"/>
                </a:solidFill>
              </a:rPr>
              <a:t>THE SUBMISSION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8419FDC-0A20-4B17-B7C0-809BC41D9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0" i="0">
                <a:solidFill>
                  <a:srgbClr val="EDF7F1"/>
                </a:solidFill>
              </a:defRPr>
            </a:pPr>
            <a:r>
              <a:rPr sz="3000" b="0" i="0">
                <a:solidFill>
                  <a:srgbClr val="EDF7F1"/>
                </a:solidFill>
              </a:rPr>
              <a:t>A working system, not a concept.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7261C3C-C516-42F6-BB63-33ADBB616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3B8AC"/>
                </a:solidFill>
              </a:defRPr>
            </a:pPr>
            <a:r>
              <a:rPr sz="1350" b="0" i="0">
                <a:solidFill>
                  <a:srgbClr val="A3B8AC"/>
                </a:solidFill>
              </a:rPr>
              <a:t>Inspect the evidence, replay the controls, and watch the paper account.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128D0F-C85B-4A9C-8820-FE7FF39E7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3C96B"/>
                </a:solidFill>
              </a:defRPr>
            </a:pPr>
            <a:r>
              <a:rPr sz="1200" b="1" i="0">
                <a:solidFill>
                  <a:srgbClr val="F3C96B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8E975D-B2AE-4731-B4A0-574FDCF04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0478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6EE7B7"/>
                </a:solidFill>
              </a:defRPr>
            </a:pPr>
            <a:r>
              <a:rPr sz="2100" b="1" i="0">
                <a:solidFill>
                  <a:srgbClr val="6EE7B7"/>
                </a:solidFill>
              </a:rPr>
              <a:t>BACKTESTED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EE7FF9-F2F1-4420-B976-30C2A9E4E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095500"/>
            <a:ext cx="4524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EDF7F1"/>
                </a:solidFill>
              </a:defRPr>
            </a:pPr>
            <a:r>
              <a:rPr sz="1425" b="0" i="0">
                <a:solidFill>
                  <a:srgbClr val="EDF7F1"/>
                </a:solidFill>
              </a:rPr>
              <a:t>644 sessions with SPY / QQQ comparison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04F882-CA17-4D62-AC2F-C52661795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647950"/>
            <a:ext cx="6953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A4EDE7-F187-4BE7-9D43-5F50DCC43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3C96B"/>
                </a:solidFill>
              </a:defRPr>
            </a:pPr>
            <a:r>
              <a:rPr sz="1200" b="1" i="0">
                <a:solidFill>
                  <a:srgbClr val="F3C96B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295878-8F2D-4BF4-AD0E-50632ADE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0480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6EE7B7"/>
                </a:solidFill>
              </a:defRPr>
            </a:pPr>
            <a:r>
              <a:rPr sz="2100" b="1" i="0">
                <a:solidFill>
                  <a:srgbClr val="6EE7B7"/>
                </a:solidFill>
              </a:rPr>
              <a:t>OPERATING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938C6A-2D6E-48F8-A5E0-65BE4E0DC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095625"/>
            <a:ext cx="4524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EDF7F1"/>
                </a:solidFill>
              </a:defRPr>
            </a:pPr>
            <a:r>
              <a:rPr sz="1425" b="0" i="0">
                <a:solidFill>
                  <a:srgbClr val="EDF7F1"/>
                </a:solidFill>
              </a:rPr>
              <a:t>V13.5 on Alpaca paper with public telemetry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644C30-036E-4B15-82BF-0D7F3C917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48075"/>
            <a:ext cx="6953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F3B8A0-B21D-4B9D-BF0C-E3958503B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3C96B"/>
                </a:solidFill>
              </a:defRPr>
            </a:pPr>
            <a:r>
              <a:rPr sz="1200" b="1" i="0">
                <a:solidFill>
                  <a:srgbClr val="F3C96B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251F99-8328-4FAE-BF47-FEA47E059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4812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6EE7B7"/>
                </a:solidFill>
              </a:defRPr>
            </a:pPr>
            <a:r>
              <a:rPr sz="2100" b="1" i="0">
                <a:solidFill>
                  <a:srgbClr val="6EE7B7"/>
                </a:solidFill>
              </a:rPr>
              <a:t>PORTABLE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D5B82E-C180-48F5-8FC4-E0F4B8634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095750"/>
            <a:ext cx="4524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EDF7F1"/>
                </a:solidFill>
              </a:defRPr>
            </a:pPr>
            <a:r>
              <a:rPr sz="1425" b="0" i="0">
                <a:solidFill>
                  <a:srgbClr val="EDF7F1"/>
                </a:solidFill>
              </a:rPr>
              <a:t>Config-driven containers and PostgreSQL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C8A301-0C1C-492E-BD05-F048E2732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2A21"/>
          </a:solidFill>
          <a:ln xmlns:a="http://schemas.openxmlformats.org/drawingml/2006/main" w="19050">
            <a:solidFill>
              <a:srgbClr val="6EE7B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220E0D-28F2-4F4B-8D1B-0A613C558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2669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3C96B"/>
                </a:solidFill>
              </a:defRPr>
            </a:pPr>
            <a:r>
              <a:rPr sz="1050" b="1" i="0">
                <a:solidFill>
                  <a:srgbClr val="F3C96B"/>
                </a:solidFill>
              </a:rPr>
              <a:t>INSPECT THE PROOF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2380AE-CC4C-44F9-97C5-385DB1C34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24150"/>
            <a:ext cx="238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0" i="0">
                <a:solidFill>
                  <a:srgbClr val="EDF7F1"/>
                </a:solidFill>
              </a:defRPr>
            </a:pPr>
            <a:r>
              <a:rPr sz="2325" b="0" i="0">
                <a:solidFill>
                  <a:srgbClr val="EDF7F1"/>
                </a:solidFill>
              </a:rPr>
              <a:t>Stable Income</a:t>
            </a:r>
          </a:p>
          <a:p xmlns:a="http://schemas.openxmlformats.org/drawingml/2006/main">
            <a:pPr algn="ctr">
              <a:defRPr sz="2325" b="0" i="0">
                <a:solidFill>
                  <a:srgbClr val="EDF7F1"/>
                </a:solidFill>
              </a:defRPr>
            </a:pPr>
            <a:r>
              <a:rPr sz="2325" b="0" i="0">
                <a:solidFill>
                  <a:srgbClr val="EDF7F1"/>
                </a:solidFill>
              </a:rPr>
              <a:t>Generator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A6DE76-3FFE-4A5E-B627-C117D9823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781425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A8F0C6"/>
                </a:solidFill>
              </a:defRPr>
            </a:pPr>
            <a:r>
              <a:rPr sz="1275" b="1" i="0">
                <a:solidFill>
                  <a:srgbClr val="A8F0C6"/>
                </a:solidFill>
              </a:rPr>
              <a:t>lipengyuan1994.github.io/</a:t>
            </a:r>
          </a:p>
          <a:p xmlns:a="http://schemas.openxmlformats.org/drawingml/2006/main">
            <a:pPr algn="ctr">
              <a:defRPr sz="1275" b="1" i="0">
                <a:solidFill>
                  <a:srgbClr val="A8F0C6"/>
                </a:solidFill>
              </a:defRPr>
            </a:pPr>
            <a:r>
              <a:rPr sz="1275" b="1" i="0">
                <a:solidFill>
                  <a:srgbClr val="A8F0C6"/>
                </a:solidFill>
              </a:rPr>
              <a:t>alpaca-hackathon/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3CF5C9-2AC6-4185-B4E8-99C834563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F8579"/>
                </a:solidFill>
              </a:defRPr>
            </a:pPr>
            <a:r>
              <a:rPr sz="1050" b="1" i="0">
                <a:solidFill>
                  <a:srgbClr val="6F8579"/>
                </a:solidFill>
              </a:rPr>
              <a:t>Credential-free replay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4D3773-0339-4FE2-831E-A651E0834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8F0C6"/>
                </a:solidFill>
              </a:defRPr>
            </a:pPr>
            <a:r>
              <a:rPr sz="1275" b="0" i="0">
                <a:solidFill>
                  <a:srgbClr val="A8F0C6"/>
                </a:solidFill>
              </a:rPr>
              <a:t>uv sync --frozen   |   uv run paper-decision-worker   |   uv run pytest -q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20009F-52F7-4C2D-8AEE-FEE4B4EE8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3D53D9-D9C7-4B84-9C4D-EC1FC7F76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F8579"/>
                </a:solidFill>
              </a:defRPr>
            </a:pPr>
            <a:r>
              <a:rPr sz="825" b="1" i="0">
                <a:solidFill>
                  <a:srgbClr val="6F8579"/>
                </a:solidFill>
              </a:rPr>
              <a:t>STABLE INCOME GENERATOR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B9B17C-C62C-41AA-BACD-7A69F655C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436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F8579"/>
                </a:solidFill>
              </a:defRPr>
            </a:pPr>
            <a:r>
              <a:rPr sz="825" b="1" i="0">
                <a:solidFill>
                  <a:srgbClr val="6F8579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9993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2026-09-03T00:11:36.5610000Z</dcterms:created>
  <dcterms:modified xsi:type="dcterms:W3CDTF">2026-09-03T00:11:36.5610000Z</dcterms:modified>
</coreProperties>
</file>